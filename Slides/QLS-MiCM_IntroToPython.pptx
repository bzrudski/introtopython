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handoutMasterIdLst>
    <p:handoutMasterId r:id="rId11"/>
  </p:handoutMasterIdLst>
  <p:sldIdLst>
    <p:sldId id="316" r:id="rId2"/>
    <p:sldId id="321" r:id="rId3"/>
    <p:sldId id="338" r:id="rId4"/>
    <p:sldId id="393" r:id="rId5"/>
    <p:sldId id="394" r:id="rId6"/>
    <p:sldId id="329" r:id="rId7"/>
    <p:sldId id="354" r:id="rId8"/>
    <p:sldId id="340" r:id="rId9"/>
  </p:sldIdLst>
  <p:sldSz cx="9144000" cy="6858000" type="screen4x3"/>
  <p:notesSz cx="6858000" cy="9144000"/>
  <p:defaultTextStyle>
    <a:defPPr>
      <a:defRPr lang="fr-FR"/>
    </a:defPPr>
    <a:lvl1pPr marL="0" algn="l" defTabSz="914226" rtl="0" eaLnBrk="1" latinLnBrk="0" hangingPunct="1">
      <a:defRPr sz="1801" kern="1200">
        <a:solidFill>
          <a:schemeClr val="tx1"/>
        </a:solidFill>
        <a:latin typeface="+mn-lt"/>
        <a:ea typeface="+mn-ea"/>
        <a:cs typeface="+mn-cs"/>
      </a:defRPr>
    </a:lvl1pPr>
    <a:lvl2pPr marL="457113" algn="l" defTabSz="914226" rtl="0" eaLnBrk="1" latinLnBrk="0" hangingPunct="1">
      <a:defRPr sz="1801" kern="1200">
        <a:solidFill>
          <a:schemeClr val="tx1"/>
        </a:solidFill>
        <a:latin typeface="+mn-lt"/>
        <a:ea typeface="+mn-ea"/>
        <a:cs typeface="+mn-cs"/>
      </a:defRPr>
    </a:lvl2pPr>
    <a:lvl3pPr marL="914226" algn="l" defTabSz="914226" rtl="0" eaLnBrk="1" latinLnBrk="0" hangingPunct="1">
      <a:defRPr sz="1801" kern="1200">
        <a:solidFill>
          <a:schemeClr val="tx1"/>
        </a:solidFill>
        <a:latin typeface="+mn-lt"/>
        <a:ea typeface="+mn-ea"/>
        <a:cs typeface="+mn-cs"/>
      </a:defRPr>
    </a:lvl3pPr>
    <a:lvl4pPr marL="1371341" algn="l" defTabSz="914226" rtl="0" eaLnBrk="1" latinLnBrk="0" hangingPunct="1">
      <a:defRPr sz="1801" kern="1200">
        <a:solidFill>
          <a:schemeClr val="tx1"/>
        </a:solidFill>
        <a:latin typeface="+mn-lt"/>
        <a:ea typeface="+mn-ea"/>
        <a:cs typeface="+mn-cs"/>
      </a:defRPr>
    </a:lvl4pPr>
    <a:lvl5pPr marL="1828453" algn="l" defTabSz="914226" rtl="0" eaLnBrk="1" latinLnBrk="0" hangingPunct="1">
      <a:defRPr sz="1801" kern="1200">
        <a:solidFill>
          <a:schemeClr val="tx1"/>
        </a:solidFill>
        <a:latin typeface="+mn-lt"/>
        <a:ea typeface="+mn-ea"/>
        <a:cs typeface="+mn-cs"/>
      </a:defRPr>
    </a:lvl5pPr>
    <a:lvl6pPr marL="2285566" algn="l" defTabSz="914226" rtl="0" eaLnBrk="1" latinLnBrk="0" hangingPunct="1">
      <a:defRPr sz="1801" kern="1200">
        <a:solidFill>
          <a:schemeClr val="tx1"/>
        </a:solidFill>
        <a:latin typeface="+mn-lt"/>
        <a:ea typeface="+mn-ea"/>
        <a:cs typeface="+mn-cs"/>
      </a:defRPr>
    </a:lvl6pPr>
    <a:lvl7pPr marL="2742679" algn="l" defTabSz="914226" rtl="0" eaLnBrk="1" latinLnBrk="0" hangingPunct="1">
      <a:defRPr sz="1801" kern="1200">
        <a:solidFill>
          <a:schemeClr val="tx1"/>
        </a:solidFill>
        <a:latin typeface="+mn-lt"/>
        <a:ea typeface="+mn-ea"/>
        <a:cs typeface="+mn-cs"/>
      </a:defRPr>
    </a:lvl7pPr>
    <a:lvl8pPr marL="3199794" algn="l" defTabSz="914226" rtl="0" eaLnBrk="1" latinLnBrk="0" hangingPunct="1">
      <a:defRPr sz="1801" kern="1200">
        <a:solidFill>
          <a:schemeClr val="tx1"/>
        </a:solidFill>
        <a:latin typeface="+mn-lt"/>
        <a:ea typeface="+mn-ea"/>
        <a:cs typeface="+mn-cs"/>
      </a:defRPr>
    </a:lvl8pPr>
    <a:lvl9pPr marL="3656907" algn="l" defTabSz="914226" rtl="0" eaLnBrk="1" latinLnBrk="0" hangingPunct="1">
      <a:defRPr sz="180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89E"/>
    <a:srgbClr val="72B0AF"/>
    <a:srgbClr val="69B0A0"/>
    <a:srgbClr val="58B6C0"/>
    <a:srgbClr val="3494BA"/>
    <a:srgbClr val="FF91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03" autoAdjust="0"/>
    <p:restoredTop sz="94668" autoAdjust="0"/>
  </p:normalViewPr>
  <p:slideViewPr>
    <p:cSldViewPr snapToGrid="0">
      <p:cViewPr varScale="1">
        <p:scale>
          <a:sx n="101" d="100"/>
          <a:sy n="101" d="100"/>
        </p:scale>
        <p:origin x="1656"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87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0E883B-34CD-C662-4894-9F17ACB17F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43E3C337-8F20-DC0E-F086-75F80A1A91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F74AA5-8A3E-4FDB-94BB-BF4B31CB4E38}" type="datetimeFigureOut">
              <a:rPr lang="en-CA" smtClean="0"/>
              <a:t>2025-11-09</a:t>
            </a:fld>
            <a:endParaRPr lang="en-CA"/>
          </a:p>
        </p:txBody>
      </p:sp>
      <p:sp>
        <p:nvSpPr>
          <p:cNvPr id="4" name="Footer Placeholder 3">
            <a:extLst>
              <a:ext uri="{FF2B5EF4-FFF2-40B4-BE49-F238E27FC236}">
                <a16:creationId xmlns:a16="http://schemas.microsoft.com/office/drawing/2014/main" id="{A3E2B551-A114-1711-7660-206556B020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38960C49-B3C8-81BE-2872-8D4647B443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A9F605-ADAB-47CB-BC74-76DC0A949AA8}" type="slidenum">
              <a:rPr lang="en-CA" smtClean="0"/>
              <a:t>‹#›</a:t>
            </a:fld>
            <a:endParaRPr lang="en-CA"/>
          </a:p>
        </p:txBody>
      </p:sp>
    </p:spTree>
    <p:extLst>
      <p:ext uri="{BB962C8B-B14F-4D97-AF65-F5344CB8AC3E}">
        <p14:creationId xmlns:p14="http://schemas.microsoft.com/office/powerpoint/2010/main" val="338358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7E5156-1B5D-054E-B5B2-E1B1BA160252}" type="datetimeFigureOut">
              <a:rPr lang="fr-FR" smtClean="0"/>
              <a:t>09/11/2025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CBD60B-517C-4242-AE46-E1BD2D086542}" type="slidenum">
              <a:rPr lang="fr-FR" smtClean="0"/>
              <a:t>‹#›</a:t>
            </a:fld>
            <a:endParaRPr lang="fr-FR"/>
          </a:p>
        </p:txBody>
      </p:sp>
    </p:spTree>
    <p:extLst>
      <p:ext uri="{BB962C8B-B14F-4D97-AF65-F5344CB8AC3E}">
        <p14:creationId xmlns:p14="http://schemas.microsoft.com/office/powerpoint/2010/main" val="517014248"/>
      </p:ext>
    </p:extLst>
  </p:cSld>
  <p:clrMap bg1="lt1" tx1="dk1" bg2="lt2" tx2="dk2" accent1="accent1" accent2="accent2" accent3="accent3" accent4="accent4" accent5="accent5" accent6="accent6" hlink="hlink" folHlink="folHlink"/>
  <p:notesStyle>
    <a:lvl1pPr marL="0" algn="l" defTabSz="913884" rtl="0" eaLnBrk="1" latinLnBrk="0" hangingPunct="1">
      <a:defRPr sz="1200" kern="1200">
        <a:solidFill>
          <a:schemeClr val="tx1"/>
        </a:solidFill>
        <a:latin typeface="+mn-lt"/>
        <a:ea typeface="+mn-ea"/>
        <a:cs typeface="+mn-cs"/>
      </a:defRPr>
    </a:lvl1pPr>
    <a:lvl2pPr marL="456942" algn="l" defTabSz="913884" rtl="0" eaLnBrk="1" latinLnBrk="0" hangingPunct="1">
      <a:defRPr sz="1200" kern="1200">
        <a:solidFill>
          <a:schemeClr val="tx1"/>
        </a:solidFill>
        <a:latin typeface="+mn-lt"/>
        <a:ea typeface="+mn-ea"/>
        <a:cs typeface="+mn-cs"/>
      </a:defRPr>
    </a:lvl2pPr>
    <a:lvl3pPr marL="913884" algn="l" defTabSz="913884" rtl="0" eaLnBrk="1" latinLnBrk="0" hangingPunct="1">
      <a:defRPr sz="1200" kern="1200">
        <a:solidFill>
          <a:schemeClr val="tx1"/>
        </a:solidFill>
        <a:latin typeface="+mn-lt"/>
        <a:ea typeface="+mn-ea"/>
        <a:cs typeface="+mn-cs"/>
      </a:defRPr>
    </a:lvl3pPr>
    <a:lvl4pPr marL="1370825" algn="l" defTabSz="913884" rtl="0" eaLnBrk="1" latinLnBrk="0" hangingPunct="1">
      <a:defRPr sz="1200" kern="1200">
        <a:solidFill>
          <a:schemeClr val="tx1"/>
        </a:solidFill>
        <a:latin typeface="+mn-lt"/>
        <a:ea typeface="+mn-ea"/>
        <a:cs typeface="+mn-cs"/>
      </a:defRPr>
    </a:lvl4pPr>
    <a:lvl5pPr marL="1827765" algn="l" defTabSz="913884" rtl="0" eaLnBrk="1" latinLnBrk="0" hangingPunct="1">
      <a:defRPr sz="1200" kern="1200">
        <a:solidFill>
          <a:schemeClr val="tx1"/>
        </a:solidFill>
        <a:latin typeface="+mn-lt"/>
        <a:ea typeface="+mn-ea"/>
        <a:cs typeface="+mn-cs"/>
      </a:defRPr>
    </a:lvl5pPr>
    <a:lvl6pPr marL="2284705" algn="l" defTabSz="913884" rtl="0" eaLnBrk="1" latinLnBrk="0" hangingPunct="1">
      <a:defRPr sz="1200" kern="1200">
        <a:solidFill>
          <a:schemeClr val="tx1"/>
        </a:solidFill>
        <a:latin typeface="+mn-lt"/>
        <a:ea typeface="+mn-ea"/>
        <a:cs typeface="+mn-cs"/>
      </a:defRPr>
    </a:lvl6pPr>
    <a:lvl7pPr marL="2741647" algn="l" defTabSz="913884" rtl="0" eaLnBrk="1" latinLnBrk="0" hangingPunct="1">
      <a:defRPr sz="1200" kern="1200">
        <a:solidFill>
          <a:schemeClr val="tx1"/>
        </a:solidFill>
        <a:latin typeface="+mn-lt"/>
        <a:ea typeface="+mn-ea"/>
        <a:cs typeface="+mn-cs"/>
      </a:defRPr>
    </a:lvl7pPr>
    <a:lvl8pPr marL="3198590" algn="l" defTabSz="913884" rtl="0" eaLnBrk="1" latinLnBrk="0" hangingPunct="1">
      <a:defRPr sz="1200" kern="1200">
        <a:solidFill>
          <a:schemeClr val="tx1"/>
        </a:solidFill>
        <a:latin typeface="+mn-lt"/>
        <a:ea typeface="+mn-ea"/>
        <a:cs typeface="+mn-cs"/>
      </a:defRPr>
    </a:lvl8pPr>
    <a:lvl9pPr marL="3655532" algn="l" defTabSz="9138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a:t>
            </a:fld>
            <a:endParaRPr lang="fr-FR"/>
          </a:p>
        </p:txBody>
      </p:sp>
    </p:spTree>
    <p:extLst>
      <p:ext uri="{BB962C8B-B14F-4D97-AF65-F5344CB8AC3E}">
        <p14:creationId xmlns:p14="http://schemas.microsoft.com/office/powerpoint/2010/main" val="2899971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a:t>
            </a:fld>
            <a:endParaRPr lang="fr-FR"/>
          </a:p>
        </p:txBody>
      </p:sp>
    </p:spTree>
    <p:extLst>
      <p:ext uri="{BB962C8B-B14F-4D97-AF65-F5344CB8AC3E}">
        <p14:creationId xmlns:p14="http://schemas.microsoft.com/office/powerpoint/2010/main" val="1214037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3</a:t>
            </a:fld>
            <a:endParaRPr lang="fr-FR"/>
          </a:p>
        </p:txBody>
      </p:sp>
    </p:spTree>
    <p:extLst>
      <p:ext uri="{BB962C8B-B14F-4D97-AF65-F5344CB8AC3E}">
        <p14:creationId xmlns:p14="http://schemas.microsoft.com/office/powerpoint/2010/main" val="2478882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F2128-7544-C79C-0058-B5FAFC7B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0115F-B1E8-A28A-12CD-B331A15FD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4157B-C86F-CECB-6D21-095419BF8C1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08144356-01B4-8CA8-C018-4C4538998E3E}"/>
              </a:ext>
            </a:extLst>
          </p:cNvPr>
          <p:cNvSpPr>
            <a:spLocks noGrp="1"/>
          </p:cNvSpPr>
          <p:nvPr>
            <p:ph type="sldNum" sz="quarter" idx="5"/>
          </p:nvPr>
        </p:nvSpPr>
        <p:spPr/>
        <p:txBody>
          <a:bodyPr/>
          <a:lstStyle/>
          <a:p>
            <a:fld id="{DACBD60B-517C-4242-AE46-E1BD2D086542}" type="slidenum">
              <a:rPr lang="fr-FR" smtClean="0"/>
              <a:t>5</a:t>
            </a:fld>
            <a:endParaRPr lang="fr-FR"/>
          </a:p>
        </p:txBody>
      </p:sp>
    </p:spTree>
    <p:extLst>
      <p:ext uri="{BB962C8B-B14F-4D97-AF65-F5344CB8AC3E}">
        <p14:creationId xmlns:p14="http://schemas.microsoft.com/office/powerpoint/2010/main" val="2748591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CBD60B-517C-4242-AE46-E1BD2D086542}" type="slidenum">
              <a:rPr lang="fr-FR" smtClean="0"/>
              <a:t>6</a:t>
            </a:fld>
            <a:endParaRPr lang="fr-FR"/>
          </a:p>
        </p:txBody>
      </p:sp>
    </p:spTree>
    <p:extLst>
      <p:ext uri="{BB962C8B-B14F-4D97-AF65-F5344CB8AC3E}">
        <p14:creationId xmlns:p14="http://schemas.microsoft.com/office/powerpoint/2010/main" val="1865660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ACBD60B-517C-4242-AE46-E1BD2D086542}" type="slidenum">
              <a:rPr lang="fr-FR" smtClean="0"/>
              <a:t>8</a:t>
            </a:fld>
            <a:endParaRPr lang="fr-FR"/>
          </a:p>
        </p:txBody>
      </p:sp>
    </p:spTree>
    <p:extLst>
      <p:ext uri="{BB962C8B-B14F-4D97-AF65-F5344CB8AC3E}">
        <p14:creationId xmlns:p14="http://schemas.microsoft.com/office/powerpoint/2010/main" val="17351191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3" y="6620940"/>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11"/>
            <a:ext cx="9144000" cy="1134533"/>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263281" y="60798"/>
            <a:ext cx="4197350" cy="1012958"/>
          </a:xfrm>
          <a:prstGeom prst="rect">
            <a:avLst/>
          </a:prstGeom>
        </p:spPr>
      </p:pic>
      <p:sp>
        <p:nvSpPr>
          <p:cNvPr id="3" name="Espace réservé du texte 2">
            <a:extLst>
              <a:ext uri="{FF2B5EF4-FFF2-40B4-BE49-F238E27FC236}">
                <a16:creationId xmlns:a16="http://schemas.microsoft.com/office/drawing/2014/main" id="{5F469381-9221-664C-A297-50EE4CAEE002}"/>
              </a:ext>
            </a:extLst>
          </p:cNvPr>
          <p:cNvSpPr>
            <a:spLocks noGrp="1"/>
          </p:cNvSpPr>
          <p:nvPr>
            <p:ph type="body" sz="quarter" idx="10"/>
          </p:nvPr>
        </p:nvSpPr>
        <p:spPr>
          <a:xfrm>
            <a:off x="242372" y="1454228"/>
            <a:ext cx="8585105" cy="4383864"/>
          </a:xfrm>
        </p:spPr>
        <p:txBody>
          <a:bodyPr/>
          <a:lstStyle/>
          <a:p>
            <a:r>
              <a:rPr lang="fr-FR"/>
              <a:t>Modifier les styles du texte du masque
Deuxième niveau
Troisième niveau
Quatrième niveau
Cinquième niveau</a:t>
            </a:r>
            <a:endParaRPr lang="en-CA"/>
          </a:p>
        </p:txBody>
      </p:sp>
      <p:pic>
        <p:nvPicPr>
          <p:cNvPr id="4" name="Picture 3" descr="A close-up of a logo&#10;&#10;Description automatically generated">
            <a:extLst>
              <a:ext uri="{FF2B5EF4-FFF2-40B4-BE49-F238E27FC236}">
                <a16:creationId xmlns:a16="http://schemas.microsoft.com/office/drawing/2014/main" id="{DDB01B34-4658-0BF9-DEB6-F09620837D34}"/>
              </a:ext>
            </a:extLst>
          </p:cNvPr>
          <p:cNvPicPr>
            <a:picLocks noChangeAspect="1"/>
          </p:cNvPicPr>
          <p:nvPr userDrawn="1"/>
        </p:nvPicPr>
        <p:blipFill>
          <a:blip r:embed="rId3"/>
          <a:stretch>
            <a:fillRect/>
          </a:stretch>
        </p:blipFill>
        <p:spPr>
          <a:xfrm>
            <a:off x="4838991" y="5996355"/>
            <a:ext cx="4305009" cy="727068"/>
          </a:xfrm>
          <a:prstGeom prst="rect">
            <a:avLst/>
          </a:prstGeom>
        </p:spPr>
      </p:pic>
    </p:spTree>
    <p:extLst>
      <p:ext uri="{BB962C8B-B14F-4D97-AF65-F5344CB8AC3E}">
        <p14:creationId xmlns:p14="http://schemas.microsoft.com/office/powerpoint/2010/main" val="322694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1" y="6620932"/>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5"/>
            <a:ext cx="9144000" cy="899674"/>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193431" y="5"/>
            <a:ext cx="3727939" cy="899674"/>
          </a:xfrm>
          <a:prstGeom prst="rect">
            <a:avLst/>
          </a:prstGeom>
        </p:spPr>
      </p:pic>
      <p:sp>
        <p:nvSpPr>
          <p:cNvPr id="6" name="Title 1">
            <a:extLst>
              <a:ext uri="{FF2B5EF4-FFF2-40B4-BE49-F238E27FC236}">
                <a16:creationId xmlns:a16="http://schemas.microsoft.com/office/drawing/2014/main" id="{42401445-DB0B-D44D-B605-7A88A3BCCA23}"/>
              </a:ext>
            </a:extLst>
          </p:cNvPr>
          <p:cNvSpPr>
            <a:spLocks noGrp="1"/>
          </p:cNvSpPr>
          <p:nvPr>
            <p:ph type="title"/>
          </p:nvPr>
        </p:nvSpPr>
        <p:spPr>
          <a:xfrm>
            <a:off x="623888" y="1709741"/>
            <a:ext cx="7886700" cy="2852738"/>
          </a:xfrm>
        </p:spPr>
        <p:txBody>
          <a:bodyPr anchor="b"/>
          <a:lstStyle>
            <a:lvl1pPr>
              <a:defRPr sz="6000"/>
            </a:lvl1pPr>
          </a:lstStyle>
          <a:p>
            <a:r>
              <a:rPr lang="fr-FR" dirty="0"/>
              <a:t>Modifiez le style du titre</a:t>
            </a:r>
            <a:endParaRPr lang="en-US" dirty="0"/>
          </a:p>
        </p:txBody>
      </p:sp>
    </p:spTree>
    <p:extLst>
      <p:ext uri="{BB962C8B-B14F-4D97-AF65-F5344CB8AC3E}">
        <p14:creationId xmlns:p14="http://schemas.microsoft.com/office/powerpoint/2010/main" val="3350706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91082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8650" y="509953"/>
            <a:ext cx="7886700" cy="1133479"/>
          </a:xfrm>
        </p:spPr>
        <p:txBody>
          <a:bodyPr anchor="b"/>
          <a:lstStyle>
            <a:lvl1pPr>
              <a:defRPr sz="6000"/>
            </a:lvl1pPr>
          </a:lstStyle>
          <a:p>
            <a:r>
              <a:rPr lang="fr-FR" dirty="0"/>
              <a:t>Modifiez le style du titre</a:t>
            </a:r>
            <a:endParaRPr lang="en-US" dirty="0"/>
          </a:p>
        </p:txBody>
      </p:sp>
      <p:sp>
        <p:nvSpPr>
          <p:cNvPr id="3" name="Text Placeholder 2"/>
          <p:cNvSpPr>
            <a:spLocks noGrp="1"/>
          </p:cNvSpPr>
          <p:nvPr>
            <p:ph type="body" idx="1"/>
          </p:nvPr>
        </p:nvSpPr>
        <p:spPr>
          <a:xfrm>
            <a:off x="562341" y="2243015"/>
            <a:ext cx="7886700" cy="3320082"/>
          </a:xfrm>
        </p:spPr>
        <p:txBody>
          <a:bodyPr/>
          <a:lstStyle>
            <a:lvl1pPr marL="0" indent="0">
              <a:buNone/>
              <a:defRPr sz="2400">
                <a:solidFill>
                  <a:schemeClr val="tx1"/>
                </a:solidFill>
              </a:defRPr>
            </a:lvl1pPr>
            <a:lvl2pPr marL="457088" indent="0">
              <a:buNone/>
              <a:defRPr sz="2002">
                <a:solidFill>
                  <a:schemeClr val="tx1">
                    <a:tint val="75000"/>
                  </a:schemeClr>
                </a:solidFill>
              </a:defRPr>
            </a:lvl2pPr>
            <a:lvl3pPr marL="914175" indent="0">
              <a:buNone/>
              <a:defRPr sz="1800">
                <a:solidFill>
                  <a:schemeClr val="tx1">
                    <a:tint val="75000"/>
                  </a:schemeClr>
                </a:solidFill>
              </a:defRPr>
            </a:lvl3pPr>
            <a:lvl4pPr marL="1371255" indent="0">
              <a:buNone/>
              <a:defRPr sz="1598">
                <a:solidFill>
                  <a:schemeClr val="tx1">
                    <a:tint val="75000"/>
                  </a:schemeClr>
                </a:solidFill>
              </a:defRPr>
            </a:lvl4pPr>
            <a:lvl5pPr marL="1828343" indent="0">
              <a:buNone/>
              <a:defRPr sz="1598">
                <a:solidFill>
                  <a:schemeClr val="tx1">
                    <a:tint val="75000"/>
                  </a:schemeClr>
                </a:solidFill>
              </a:defRPr>
            </a:lvl5pPr>
            <a:lvl6pPr marL="2285430" indent="0">
              <a:buNone/>
              <a:defRPr sz="1598">
                <a:solidFill>
                  <a:schemeClr val="tx1">
                    <a:tint val="75000"/>
                  </a:schemeClr>
                </a:solidFill>
              </a:defRPr>
            </a:lvl6pPr>
            <a:lvl7pPr marL="2742518" indent="0">
              <a:buNone/>
              <a:defRPr sz="1598">
                <a:solidFill>
                  <a:schemeClr val="tx1">
                    <a:tint val="75000"/>
                  </a:schemeClr>
                </a:solidFill>
              </a:defRPr>
            </a:lvl7pPr>
            <a:lvl8pPr marL="3199598" indent="0">
              <a:buNone/>
              <a:defRPr sz="1598">
                <a:solidFill>
                  <a:schemeClr val="tx1">
                    <a:tint val="75000"/>
                  </a:schemeClr>
                </a:solidFill>
              </a:defRPr>
            </a:lvl8pPr>
            <a:lvl9pPr marL="3656685" indent="0">
              <a:buNone/>
              <a:defRPr sz="1598">
                <a:solidFill>
                  <a:schemeClr val="tx1">
                    <a:tint val="75000"/>
                  </a:schemeClr>
                </a:solidFill>
              </a:defRPr>
            </a:lvl9pPr>
          </a:lstStyle>
          <a:p>
            <a:pPr lvl="0"/>
            <a:r>
              <a:rPr lang="fr-FR" dirty="0"/>
              <a:t>Modifier les styles du texte du masque
Deuxième niveau
Troisième niveau
Quatrième niveau
Cinquième niveau</a:t>
            </a:r>
            <a:endParaRPr lang="en-US" dirty="0"/>
          </a:p>
        </p:txBody>
      </p:sp>
    </p:spTree>
    <p:extLst>
      <p:ext uri="{BB962C8B-B14F-4D97-AF65-F5344CB8AC3E}">
        <p14:creationId xmlns:p14="http://schemas.microsoft.com/office/powerpoint/2010/main" val="1311720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628650" y="1825627"/>
            <a:ext cx="3886200" cy="4351335"/>
          </a:xfrm>
        </p:spPr>
        <p:txBody>
          <a:bodyPr/>
          <a:lstStyle/>
          <a:p>
            <a:pPr lvl="0"/>
            <a:endParaRPr lang="en-US"/>
          </a:p>
        </p:txBody>
      </p:sp>
      <p:sp>
        <p:nvSpPr>
          <p:cNvPr id="4" name="Content Placeholder 3"/>
          <p:cNvSpPr>
            <a:spLocks noGrp="1"/>
          </p:cNvSpPr>
          <p:nvPr>
            <p:ph sz="half" idx="2"/>
          </p:nvPr>
        </p:nvSpPr>
        <p:spPr>
          <a:xfrm>
            <a:off x="4629150" y="1825627"/>
            <a:ext cx="3886200" cy="4351335"/>
          </a:xfrm>
        </p:spPr>
        <p:txBody>
          <a:bodyPr/>
          <a:lstStyle/>
          <a:p>
            <a:pPr lvl="0"/>
            <a:endParaRPr lang="en-US"/>
          </a:p>
        </p:txBody>
      </p:sp>
    </p:spTree>
    <p:extLst>
      <p:ext uri="{BB962C8B-B14F-4D97-AF65-F5344CB8AC3E}">
        <p14:creationId xmlns:p14="http://schemas.microsoft.com/office/powerpoint/2010/main" val="1884908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3433175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27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2"/>
            </a:lvl1pPr>
          </a:lstStyle>
          <a:p>
            <a:r>
              <a:rPr lang="fr-FR"/>
              <a:t>Modifiez le style du titre</a:t>
            </a:r>
            <a:endParaRPr lang="en-US"/>
          </a:p>
        </p:txBody>
      </p:sp>
      <p:sp>
        <p:nvSpPr>
          <p:cNvPr id="3" name="Picture Placeholder 2"/>
          <p:cNvSpPr>
            <a:spLocks noGrp="1" noChangeAspect="1"/>
          </p:cNvSpPr>
          <p:nvPr>
            <p:ph type="pic" idx="1"/>
          </p:nvPr>
        </p:nvSpPr>
        <p:spPr>
          <a:xfrm>
            <a:off x="3887391" y="987431"/>
            <a:ext cx="4629150" cy="4873628"/>
          </a:xfrm>
        </p:spPr>
        <p:txBody>
          <a:bodyPr anchor="t"/>
          <a:lstStyle>
            <a:lvl1pPr marL="0" indent="0">
              <a:buNone/>
              <a:defRPr sz="3202"/>
            </a:lvl1pPr>
            <a:lvl2pPr marL="457088" indent="0">
              <a:buNone/>
              <a:defRPr sz="2798"/>
            </a:lvl2pPr>
            <a:lvl3pPr marL="914175" indent="0">
              <a:buNone/>
              <a:defRPr sz="2400"/>
            </a:lvl3pPr>
            <a:lvl4pPr marL="1371255" indent="0">
              <a:buNone/>
              <a:defRPr sz="2002"/>
            </a:lvl4pPr>
            <a:lvl5pPr marL="1828343" indent="0">
              <a:buNone/>
              <a:defRPr sz="2002"/>
            </a:lvl5pPr>
            <a:lvl6pPr marL="2285430" indent="0">
              <a:buNone/>
              <a:defRPr sz="2002"/>
            </a:lvl6pPr>
            <a:lvl7pPr marL="2742518" indent="0">
              <a:buNone/>
              <a:defRPr sz="2002"/>
            </a:lvl7pPr>
            <a:lvl8pPr marL="3199598" indent="0">
              <a:buNone/>
              <a:defRPr sz="2002"/>
            </a:lvl8pPr>
            <a:lvl9pPr marL="3656685" indent="0">
              <a:buNone/>
              <a:defRPr sz="2002"/>
            </a:lvl9pPr>
          </a:lstStyle>
          <a:p>
            <a:r>
              <a:rPr lang="fr-FR"/>
              <a:t>Cliquez sur l'icône pour ajouter une image</a:t>
            </a:r>
            <a:endParaRPr lang="en-US"/>
          </a:p>
        </p:txBody>
      </p:sp>
      <p:sp>
        <p:nvSpPr>
          <p:cNvPr id="4" name="Text Placeholder 3"/>
          <p:cNvSpPr>
            <a:spLocks noGrp="1"/>
          </p:cNvSpPr>
          <p:nvPr>
            <p:ph type="body" sz="half" idx="2"/>
          </p:nvPr>
        </p:nvSpPr>
        <p:spPr>
          <a:xfrm>
            <a:off x="629841" y="2057400"/>
            <a:ext cx="2949178" cy="3811590"/>
          </a:xfrm>
        </p:spPr>
        <p:txBody>
          <a:bodyPr/>
          <a:lstStyle>
            <a:lvl1pPr marL="0" indent="0">
              <a:buNone/>
              <a:defRPr sz="1598"/>
            </a:lvl1pPr>
            <a:lvl2pPr marL="457088" indent="0">
              <a:buNone/>
              <a:defRPr sz="1403"/>
            </a:lvl2pPr>
            <a:lvl3pPr marL="914175" indent="0">
              <a:buNone/>
              <a:defRPr sz="1200"/>
            </a:lvl3pPr>
            <a:lvl4pPr marL="1371255" indent="0">
              <a:buNone/>
              <a:defRPr sz="998"/>
            </a:lvl4pPr>
            <a:lvl5pPr marL="1828343" indent="0">
              <a:buNone/>
              <a:defRPr sz="998"/>
            </a:lvl5pPr>
            <a:lvl6pPr marL="2285430" indent="0">
              <a:buNone/>
              <a:defRPr sz="998"/>
            </a:lvl6pPr>
            <a:lvl7pPr marL="2742518" indent="0">
              <a:buNone/>
              <a:defRPr sz="998"/>
            </a:lvl7pPr>
            <a:lvl8pPr marL="3199598" indent="0">
              <a:buNone/>
              <a:defRPr sz="998"/>
            </a:lvl8pPr>
            <a:lvl9pPr marL="3656685" indent="0">
              <a:buNone/>
              <a:defRPr sz="998"/>
            </a:lvl9p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2749933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3"/>
            <a:ext cx="7886700" cy="1325565"/>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2038216"/>
            <a:ext cx="7886700" cy="3666392"/>
          </a:xfrm>
          <a:prstGeom prst="rect">
            <a:avLst/>
          </a:prstGeom>
        </p:spPr>
        <p:txBody>
          <a:bodyPr vert="horz" lIns="91440" tIns="45720" rIns="91440" bIns="45720" rtlCol="0">
            <a:normAutofit/>
          </a:bodyPr>
          <a:lstStyle/>
          <a:p>
            <a:pPr lvl="0"/>
            <a:r>
              <a:rPr lang="fr-FR" dirty="0"/>
              <a:t>Modifier les styles du texte du masque
Deuxième niveau
Troisième niveau
Quatrième niveau
Cinquième niveau</a:t>
            </a:r>
            <a:endParaRPr lang="en-US" dirty="0"/>
          </a:p>
        </p:txBody>
      </p:sp>
      <p:grpSp>
        <p:nvGrpSpPr>
          <p:cNvPr id="14" name="Group 11">
            <a:extLst>
              <a:ext uri="{FF2B5EF4-FFF2-40B4-BE49-F238E27FC236}">
                <a16:creationId xmlns:a16="http://schemas.microsoft.com/office/drawing/2014/main" id="{8ADF8589-063A-1546-8085-07B315CCB283}"/>
              </a:ext>
            </a:extLst>
          </p:cNvPr>
          <p:cNvGrpSpPr>
            <a:grpSpLocks/>
          </p:cNvGrpSpPr>
          <p:nvPr userDrawn="1"/>
        </p:nvGrpSpPr>
        <p:grpSpPr bwMode="auto">
          <a:xfrm>
            <a:off x="-2150" y="6790458"/>
            <a:ext cx="9146150" cy="121246"/>
            <a:chOff x="606161" y="2106824"/>
            <a:chExt cx="6205940" cy="1241188"/>
          </a:xfrm>
        </p:grpSpPr>
        <p:sp>
          <p:nvSpPr>
            <p:cNvPr id="15" name="Rectangle 14">
              <a:extLst>
                <a:ext uri="{FF2B5EF4-FFF2-40B4-BE49-F238E27FC236}">
                  <a16:creationId xmlns:a16="http://schemas.microsoft.com/office/drawing/2014/main" id="{7CD4AE55-E3E4-8E48-A531-035261AD147D}"/>
                </a:ext>
              </a:extLst>
            </p:cNvPr>
            <p:cNvSpPr/>
            <p:nvPr userDrawn="1"/>
          </p:nvSpPr>
          <p:spPr>
            <a:xfrm>
              <a:off x="606161" y="2106824"/>
              <a:ext cx="1241028" cy="12411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6" name="Rectangle 15">
              <a:extLst>
                <a:ext uri="{FF2B5EF4-FFF2-40B4-BE49-F238E27FC236}">
                  <a16:creationId xmlns:a16="http://schemas.microsoft.com/office/drawing/2014/main" id="{5753BF61-1322-C642-81B1-2BEA6A9D7516}"/>
                </a:ext>
              </a:extLst>
            </p:cNvPr>
            <p:cNvSpPr/>
            <p:nvPr userDrawn="1"/>
          </p:nvSpPr>
          <p:spPr>
            <a:xfrm>
              <a:off x="1847189" y="2106824"/>
              <a:ext cx="1241429" cy="12411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7" name="Rectangle 16">
              <a:extLst>
                <a:ext uri="{FF2B5EF4-FFF2-40B4-BE49-F238E27FC236}">
                  <a16:creationId xmlns:a16="http://schemas.microsoft.com/office/drawing/2014/main" id="{505D8262-7348-B74A-B1E5-C429BF3920A3}"/>
                </a:ext>
              </a:extLst>
            </p:cNvPr>
            <p:cNvSpPr/>
            <p:nvPr userDrawn="1"/>
          </p:nvSpPr>
          <p:spPr>
            <a:xfrm>
              <a:off x="3088617" y="2106824"/>
              <a:ext cx="1241027" cy="12411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8" name="Rectangle 17">
              <a:extLst>
                <a:ext uri="{FF2B5EF4-FFF2-40B4-BE49-F238E27FC236}">
                  <a16:creationId xmlns:a16="http://schemas.microsoft.com/office/drawing/2014/main" id="{7AE6F6EB-C764-0142-9907-8F053728961D}"/>
                </a:ext>
              </a:extLst>
            </p:cNvPr>
            <p:cNvSpPr/>
            <p:nvPr userDrawn="1"/>
          </p:nvSpPr>
          <p:spPr>
            <a:xfrm>
              <a:off x="4329645" y="2106824"/>
              <a:ext cx="1241429" cy="124118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9" name="Rectangle 18">
              <a:extLst>
                <a:ext uri="{FF2B5EF4-FFF2-40B4-BE49-F238E27FC236}">
                  <a16:creationId xmlns:a16="http://schemas.microsoft.com/office/drawing/2014/main" id="{894EFFE0-7781-6F4A-8329-190CB533253E}"/>
                </a:ext>
              </a:extLst>
            </p:cNvPr>
            <p:cNvSpPr/>
            <p:nvPr userDrawn="1"/>
          </p:nvSpPr>
          <p:spPr>
            <a:xfrm>
              <a:off x="5571073" y="2106824"/>
              <a:ext cx="1241028" cy="124118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grpSp>
      <p:pic>
        <p:nvPicPr>
          <p:cNvPr id="6" name="Picture 5" descr="A close-up of a logo&#10;&#10;Description automatically generated">
            <a:extLst>
              <a:ext uri="{FF2B5EF4-FFF2-40B4-BE49-F238E27FC236}">
                <a16:creationId xmlns:a16="http://schemas.microsoft.com/office/drawing/2014/main" id="{25746FDC-B172-848D-40AE-03399FB3A205}"/>
              </a:ext>
            </a:extLst>
          </p:cNvPr>
          <p:cNvPicPr>
            <a:picLocks noChangeAspect="1"/>
          </p:cNvPicPr>
          <p:nvPr userDrawn="1"/>
        </p:nvPicPr>
        <p:blipFill>
          <a:blip r:embed="rId10"/>
          <a:stretch>
            <a:fillRect/>
          </a:stretch>
        </p:blipFill>
        <p:spPr>
          <a:xfrm>
            <a:off x="4857750" y="6066558"/>
            <a:ext cx="4286250" cy="723900"/>
          </a:xfrm>
          <a:prstGeom prst="rect">
            <a:avLst/>
          </a:prstGeom>
        </p:spPr>
      </p:pic>
    </p:spTree>
    <p:extLst>
      <p:ext uri="{BB962C8B-B14F-4D97-AF65-F5344CB8AC3E}">
        <p14:creationId xmlns:p14="http://schemas.microsoft.com/office/powerpoint/2010/main" val="144937422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62" r:id="rId3"/>
    <p:sldLayoutId id="2147483663" r:id="rId4"/>
    <p:sldLayoutId id="2147483664" r:id="rId5"/>
    <p:sldLayoutId id="2147483666" r:id="rId6"/>
    <p:sldLayoutId id="2147483667" r:id="rId7"/>
    <p:sldLayoutId id="2147483669" r:id="rId8"/>
  </p:sldLayoutIdLst>
  <p:hf sldNum="0" hdr="0" ftr="0" dt="0"/>
  <p:txStyles>
    <p:titleStyle>
      <a:lvl1pPr algn="l" defTabSz="914175" rtl="0" eaLnBrk="1" latinLnBrk="0" hangingPunct="1">
        <a:lnSpc>
          <a:spcPct val="90000"/>
        </a:lnSpc>
        <a:spcBef>
          <a:spcPct val="0"/>
        </a:spcBef>
        <a:buNone/>
        <a:defRPr sz="4403" kern="1200">
          <a:solidFill>
            <a:schemeClr val="tx1"/>
          </a:solidFill>
          <a:latin typeface="+mj-lt"/>
          <a:ea typeface="+mj-ea"/>
          <a:cs typeface="+mj-cs"/>
        </a:defRPr>
      </a:lvl1pPr>
    </p:titleStyle>
    <p:bodyStyle>
      <a:lvl1pPr marL="228540" indent="-228540" algn="l" defTabSz="914175" rtl="0" eaLnBrk="1" latinLnBrk="0" hangingPunct="1">
        <a:lnSpc>
          <a:spcPct val="90000"/>
        </a:lnSpc>
        <a:spcBef>
          <a:spcPts val="998"/>
        </a:spcBef>
        <a:buFont typeface="Arial" panose="020B0604020202020204" pitchFamily="34" charset="0"/>
        <a:buChar char="•"/>
        <a:defRPr sz="2798" kern="1200">
          <a:solidFill>
            <a:schemeClr val="tx1"/>
          </a:solidFill>
          <a:latin typeface="+mn-lt"/>
          <a:ea typeface="+mn-ea"/>
          <a:cs typeface="+mn-cs"/>
        </a:defRPr>
      </a:lvl1pPr>
      <a:lvl2pPr marL="685628" indent="-228540" algn="l" defTabSz="914175" rtl="0" eaLnBrk="1" latinLnBrk="0" hangingPunct="1">
        <a:lnSpc>
          <a:spcPct val="90000"/>
        </a:lnSpc>
        <a:spcBef>
          <a:spcPts val="503"/>
        </a:spcBef>
        <a:buFont typeface="Arial" panose="020B0604020202020204" pitchFamily="34" charset="0"/>
        <a:buChar char="•"/>
        <a:defRPr sz="2400" kern="1200">
          <a:solidFill>
            <a:schemeClr val="tx1"/>
          </a:solidFill>
          <a:latin typeface="+mn-lt"/>
          <a:ea typeface="+mn-ea"/>
          <a:cs typeface="+mn-cs"/>
        </a:defRPr>
      </a:lvl2pPr>
      <a:lvl3pPr marL="1142715" indent="-228540" algn="l" defTabSz="914175" rtl="0" eaLnBrk="1" latinLnBrk="0" hangingPunct="1">
        <a:lnSpc>
          <a:spcPct val="90000"/>
        </a:lnSpc>
        <a:spcBef>
          <a:spcPts val="503"/>
        </a:spcBef>
        <a:buFont typeface="Arial" panose="020B0604020202020204" pitchFamily="34" charset="0"/>
        <a:buChar char="•"/>
        <a:defRPr sz="2002" kern="1200">
          <a:solidFill>
            <a:schemeClr val="tx1"/>
          </a:solidFill>
          <a:latin typeface="+mn-lt"/>
          <a:ea typeface="+mn-ea"/>
          <a:cs typeface="+mn-cs"/>
        </a:defRPr>
      </a:lvl3pPr>
      <a:lvl4pPr marL="159980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4pPr>
      <a:lvl5pPr marL="205688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5pPr>
      <a:lvl6pPr marL="2513970"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6pPr>
      <a:lvl7pPr marL="2971058"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7pPr>
      <a:lvl8pPr marL="342814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8pPr>
      <a:lvl9pPr marL="388522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75" rtl="0" eaLnBrk="1" latinLnBrk="0" hangingPunct="1">
        <a:defRPr sz="1800" kern="1200">
          <a:solidFill>
            <a:schemeClr val="tx1"/>
          </a:solidFill>
          <a:latin typeface="+mn-lt"/>
          <a:ea typeface="+mn-ea"/>
          <a:cs typeface="+mn-cs"/>
        </a:defRPr>
      </a:lvl1pPr>
      <a:lvl2pPr marL="457088" algn="l" defTabSz="914175" rtl="0" eaLnBrk="1" latinLnBrk="0" hangingPunct="1">
        <a:defRPr sz="1800" kern="1200">
          <a:solidFill>
            <a:schemeClr val="tx1"/>
          </a:solidFill>
          <a:latin typeface="+mn-lt"/>
          <a:ea typeface="+mn-ea"/>
          <a:cs typeface="+mn-cs"/>
        </a:defRPr>
      </a:lvl2pPr>
      <a:lvl3pPr marL="914175" algn="l" defTabSz="914175" rtl="0" eaLnBrk="1" latinLnBrk="0" hangingPunct="1">
        <a:defRPr sz="1800" kern="1200">
          <a:solidFill>
            <a:schemeClr val="tx1"/>
          </a:solidFill>
          <a:latin typeface="+mn-lt"/>
          <a:ea typeface="+mn-ea"/>
          <a:cs typeface="+mn-cs"/>
        </a:defRPr>
      </a:lvl3pPr>
      <a:lvl4pPr marL="1371255" algn="l" defTabSz="914175" rtl="0" eaLnBrk="1" latinLnBrk="0" hangingPunct="1">
        <a:defRPr sz="1800" kern="1200">
          <a:solidFill>
            <a:schemeClr val="tx1"/>
          </a:solidFill>
          <a:latin typeface="+mn-lt"/>
          <a:ea typeface="+mn-ea"/>
          <a:cs typeface="+mn-cs"/>
        </a:defRPr>
      </a:lvl4pPr>
      <a:lvl5pPr marL="1828343" algn="l" defTabSz="914175" rtl="0" eaLnBrk="1" latinLnBrk="0" hangingPunct="1">
        <a:defRPr sz="1800" kern="1200">
          <a:solidFill>
            <a:schemeClr val="tx1"/>
          </a:solidFill>
          <a:latin typeface="+mn-lt"/>
          <a:ea typeface="+mn-ea"/>
          <a:cs typeface="+mn-cs"/>
        </a:defRPr>
      </a:lvl5pPr>
      <a:lvl6pPr marL="2285430" algn="l" defTabSz="914175" rtl="0" eaLnBrk="1" latinLnBrk="0" hangingPunct="1">
        <a:defRPr sz="1800" kern="1200">
          <a:solidFill>
            <a:schemeClr val="tx1"/>
          </a:solidFill>
          <a:latin typeface="+mn-lt"/>
          <a:ea typeface="+mn-ea"/>
          <a:cs typeface="+mn-cs"/>
        </a:defRPr>
      </a:lvl6pPr>
      <a:lvl7pPr marL="2742518" algn="l" defTabSz="914175" rtl="0" eaLnBrk="1" latinLnBrk="0" hangingPunct="1">
        <a:defRPr sz="1800" kern="1200">
          <a:solidFill>
            <a:schemeClr val="tx1"/>
          </a:solidFill>
          <a:latin typeface="+mn-lt"/>
          <a:ea typeface="+mn-ea"/>
          <a:cs typeface="+mn-cs"/>
        </a:defRPr>
      </a:lvl7pPr>
      <a:lvl8pPr marL="3199598" algn="l" defTabSz="914175" rtl="0" eaLnBrk="1" latinLnBrk="0" hangingPunct="1">
        <a:defRPr sz="1800" kern="1200">
          <a:solidFill>
            <a:schemeClr val="tx1"/>
          </a:solidFill>
          <a:latin typeface="+mn-lt"/>
          <a:ea typeface="+mn-ea"/>
          <a:cs typeface="+mn-cs"/>
        </a:defRPr>
      </a:lvl8pPr>
      <a:lvl9pPr marL="3656685" algn="l" defTabSz="91417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hyperlink" Target="mailto:workshop-micm@mcgill.ca"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www.mcgill.ca/micm/training/workshops-serie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involvement.mcgill.ca/organization/micm"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QLS-MiCM/IntroToPython"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45C165F-BC2D-0A42-B582-A27AE4DBB9CF}"/>
              </a:ext>
            </a:extLst>
          </p:cNvPr>
          <p:cNvSpPr>
            <a:spLocks noGrp="1"/>
          </p:cNvSpPr>
          <p:nvPr>
            <p:ph type="title"/>
          </p:nvPr>
        </p:nvSpPr>
        <p:spPr>
          <a:xfrm>
            <a:off x="1897747" y="2844801"/>
            <a:ext cx="5348506" cy="1168398"/>
          </a:xfrm>
        </p:spPr>
        <p:txBody>
          <a:bodyPr>
            <a:normAutofit/>
          </a:bodyPr>
          <a:lstStyle/>
          <a:p>
            <a:pPr algn="ctr"/>
            <a:r>
              <a:rPr lang="en-CA" dirty="0">
                <a:latin typeface="Helvetica"/>
                <a:cs typeface="Helvetica"/>
              </a:rPr>
              <a:t>Intro to Python</a:t>
            </a:r>
            <a:endParaRPr lang="en-CA" dirty="0">
              <a:latin typeface="Helvetica" pitchFamily="2" charset="0"/>
              <a:cs typeface="Helvetica"/>
            </a:endParaRPr>
          </a:p>
        </p:txBody>
      </p:sp>
      <p:sp>
        <p:nvSpPr>
          <p:cNvPr id="2" name="TextBox 1">
            <a:extLst>
              <a:ext uri="{FF2B5EF4-FFF2-40B4-BE49-F238E27FC236}">
                <a16:creationId xmlns:a16="http://schemas.microsoft.com/office/drawing/2014/main" id="{E57E6C04-4051-B883-0FFD-0C104B795BCE}"/>
              </a:ext>
            </a:extLst>
          </p:cNvPr>
          <p:cNvSpPr txBox="1"/>
          <p:nvPr/>
        </p:nvSpPr>
        <p:spPr>
          <a:xfrm>
            <a:off x="80296" y="6075446"/>
            <a:ext cx="3567878" cy="646331"/>
          </a:xfrm>
          <a:prstGeom prst="rect">
            <a:avLst/>
          </a:prstGeom>
          <a:noFill/>
        </p:spPr>
        <p:txBody>
          <a:bodyPr wrap="square" lIns="91440" tIns="45720" rIns="91440" bIns="45720" rtlCol="0" anchor="t">
            <a:spAutoFit/>
          </a:bodyPr>
          <a:lstStyle/>
          <a:p>
            <a:r>
              <a:rPr lang="en-CA" sz="1800" dirty="0">
                <a:latin typeface="Helvetica Light"/>
              </a:rPr>
              <a:t>Benjamin Z. Rudski</a:t>
            </a:r>
          </a:p>
          <a:p>
            <a:r>
              <a:rPr lang="en-CA" sz="1800" dirty="0">
                <a:latin typeface="Helvetica Light"/>
              </a:rPr>
              <a:t>November 13, 2025</a:t>
            </a:r>
            <a:endParaRPr lang="en-CA" dirty="0">
              <a:latin typeface="Helvetica Light"/>
            </a:endParaRPr>
          </a:p>
        </p:txBody>
      </p:sp>
      <p:sp>
        <p:nvSpPr>
          <p:cNvPr id="3" name="TextBox 2">
            <a:extLst>
              <a:ext uri="{FF2B5EF4-FFF2-40B4-BE49-F238E27FC236}">
                <a16:creationId xmlns:a16="http://schemas.microsoft.com/office/drawing/2014/main" id="{6374109B-259C-822F-4AE2-931933D5274B}"/>
              </a:ext>
            </a:extLst>
          </p:cNvPr>
          <p:cNvSpPr txBox="1"/>
          <p:nvPr/>
        </p:nvSpPr>
        <p:spPr>
          <a:xfrm>
            <a:off x="80296" y="4721029"/>
            <a:ext cx="5348506" cy="646587"/>
          </a:xfrm>
          <a:prstGeom prst="rect">
            <a:avLst/>
          </a:prstGeom>
          <a:noFill/>
        </p:spPr>
        <p:txBody>
          <a:bodyPr wrap="square" rtlCol="0">
            <a:spAutoFit/>
          </a:bodyPr>
          <a:lstStyle/>
          <a:p>
            <a:r>
              <a:rPr lang="en-CA" dirty="0">
                <a:latin typeface="Arial" panose="020B0604020202020204" pitchFamily="34" charset="0"/>
                <a:cs typeface="Arial" panose="020B0604020202020204" pitchFamily="34" charset="0"/>
              </a:rPr>
              <a:t>Material adapted from previous workshops by Benjamin Z. Rudski and Najia </a:t>
            </a:r>
            <a:r>
              <a:rPr lang="en-CA" dirty="0" err="1">
                <a:latin typeface="Arial" panose="020B0604020202020204" pitchFamily="34" charset="0"/>
                <a:cs typeface="Arial" panose="020B0604020202020204" pitchFamily="34" charset="0"/>
              </a:rPr>
              <a:t>Bouaddouch</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9275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AE12D43-9137-DB7C-570B-E48AB2308897}"/>
              </a:ext>
            </a:extLst>
          </p:cNvPr>
          <p:cNvSpPr>
            <a:spLocks noGrp="1"/>
          </p:cNvSpPr>
          <p:nvPr>
            <p:ph sz="half" idx="2"/>
          </p:nvPr>
        </p:nvSpPr>
        <p:spPr>
          <a:xfrm>
            <a:off x="924887" y="5287892"/>
            <a:ext cx="3224152" cy="646331"/>
          </a:xfrm>
        </p:spPr>
        <p:txBody>
          <a:bodyPr vert="horz" lIns="91440" tIns="45720" rIns="91440" bIns="45720" rtlCol="0" anchor="t">
            <a:normAutofit/>
          </a:bodyPr>
          <a:lstStyle/>
          <a:p>
            <a:pPr marL="0" indent="0">
              <a:buNone/>
            </a:pPr>
            <a:r>
              <a:rPr lang="en-CA" sz="1800" dirty="0">
                <a:latin typeface="Helvetica" panose="020B0604020202020204" pitchFamily="34" charset="0"/>
                <a:cs typeface="Helvetica" panose="020B0604020202020204" pitchFamily="34" charset="0"/>
              </a:rPr>
              <a:t>Location: 550 Sherbrooke Street, Montreal, Quebec</a:t>
            </a:r>
          </a:p>
        </p:txBody>
      </p:sp>
      <p:sp>
        <p:nvSpPr>
          <p:cNvPr id="8" name="TextBox 7">
            <a:extLst>
              <a:ext uri="{FF2B5EF4-FFF2-40B4-BE49-F238E27FC236}">
                <a16:creationId xmlns:a16="http://schemas.microsoft.com/office/drawing/2014/main" id="{2A92A9C4-6F5B-9A18-012E-5626D25E3582}"/>
              </a:ext>
            </a:extLst>
          </p:cNvPr>
          <p:cNvSpPr txBox="1"/>
          <p:nvPr/>
        </p:nvSpPr>
        <p:spPr>
          <a:xfrm>
            <a:off x="820547" y="1461827"/>
            <a:ext cx="7502906" cy="646331"/>
          </a:xfrm>
          <a:prstGeom prst="rect">
            <a:avLst/>
          </a:prstGeom>
          <a:noFill/>
        </p:spPr>
        <p:txBody>
          <a:bodyPr wrap="square" lIns="91440" tIns="45720" rIns="91440" bIns="45720" rtlCol="0" anchor="t">
            <a:spAutoFit/>
          </a:bodyPr>
          <a:lstStyle/>
          <a:p>
            <a:pPr algn="ctr"/>
            <a:r>
              <a:rPr lang="en-CA" sz="1800" dirty="0">
                <a:latin typeface="Helvetica" pitchFamily="2" charset="0"/>
              </a:rPr>
              <a:t>QLS-MiCM mission statement: d</a:t>
            </a:r>
            <a:r>
              <a:rPr lang="en-CA" sz="1800" b="0" i="0" dirty="0">
                <a:solidFill>
                  <a:srgbClr val="000000"/>
                </a:solidFill>
                <a:effectLst/>
                <a:latin typeface="Helvetica" pitchFamily="2" charset="0"/>
                <a:cs typeface="Calibri"/>
              </a:rPr>
              <a:t>eliver quality workshops designed to help biomedical researchers develop the skills they need to succeed.</a:t>
            </a:r>
            <a:endParaRPr lang="en-CA" sz="1800" dirty="0">
              <a:latin typeface="Helvetica" pitchFamily="2" charset="0"/>
              <a:cs typeface="Calibri"/>
            </a:endParaRPr>
          </a:p>
        </p:txBody>
      </p:sp>
      <p:pic>
        <p:nvPicPr>
          <p:cNvPr id="10" name="Picture 9" descr="A logo with a letter m&#10;&#10;Description automatically generated">
            <a:extLst>
              <a:ext uri="{FF2B5EF4-FFF2-40B4-BE49-F238E27FC236}">
                <a16:creationId xmlns:a16="http://schemas.microsoft.com/office/drawing/2014/main" id="{E494228A-9E5D-1800-FDEC-760556611BD3}"/>
              </a:ext>
            </a:extLst>
          </p:cNvPr>
          <p:cNvPicPr>
            <a:picLocks noChangeAspect="1"/>
          </p:cNvPicPr>
          <p:nvPr/>
        </p:nvPicPr>
        <p:blipFill>
          <a:blip r:embed="rId3"/>
          <a:stretch>
            <a:fillRect/>
          </a:stretch>
        </p:blipFill>
        <p:spPr>
          <a:xfrm>
            <a:off x="2705825" y="208818"/>
            <a:ext cx="3732349" cy="900740"/>
          </a:xfrm>
          <a:prstGeom prst="rect">
            <a:avLst/>
          </a:prstGeom>
        </p:spPr>
      </p:pic>
      <p:pic>
        <p:nvPicPr>
          <p:cNvPr id="12" name="Picture 11" descr="A qr code with black squares&#10;&#10;Description automatically generated">
            <a:extLst>
              <a:ext uri="{FF2B5EF4-FFF2-40B4-BE49-F238E27FC236}">
                <a16:creationId xmlns:a16="http://schemas.microsoft.com/office/drawing/2014/main" id="{333BAB40-358F-BE60-7494-578A1971B335}"/>
              </a:ext>
            </a:extLst>
          </p:cNvPr>
          <p:cNvPicPr>
            <a:picLocks noChangeAspect="1"/>
          </p:cNvPicPr>
          <p:nvPr/>
        </p:nvPicPr>
        <p:blipFill>
          <a:blip r:embed="rId4"/>
          <a:stretch>
            <a:fillRect/>
          </a:stretch>
        </p:blipFill>
        <p:spPr>
          <a:xfrm>
            <a:off x="5518580" y="2808275"/>
            <a:ext cx="2203814" cy="2203814"/>
          </a:xfrm>
          <a:prstGeom prst="rect">
            <a:avLst/>
          </a:prstGeom>
        </p:spPr>
      </p:pic>
      <p:sp>
        <p:nvSpPr>
          <p:cNvPr id="13" name="TextBox 12">
            <a:extLst>
              <a:ext uri="{FF2B5EF4-FFF2-40B4-BE49-F238E27FC236}">
                <a16:creationId xmlns:a16="http://schemas.microsoft.com/office/drawing/2014/main" id="{174C1E59-2F37-F73C-4DFA-8971D19A54AE}"/>
              </a:ext>
            </a:extLst>
          </p:cNvPr>
          <p:cNvSpPr txBox="1"/>
          <p:nvPr/>
        </p:nvSpPr>
        <p:spPr>
          <a:xfrm>
            <a:off x="4373913" y="5288330"/>
            <a:ext cx="4632294" cy="646331"/>
          </a:xfrm>
          <a:prstGeom prst="rect">
            <a:avLst/>
          </a:prstGeom>
          <a:noFill/>
        </p:spPr>
        <p:txBody>
          <a:bodyPr wrap="square" lIns="91440" tIns="45720" rIns="91440" bIns="45720" rtlCol="0" anchor="t">
            <a:spAutoFit/>
          </a:bodyPr>
          <a:lstStyle/>
          <a:p>
            <a:pPr algn="ctr"/>
            <a:r>
              <a:rPr lang="en-CA" sz="1800" dirty="0">
                <a:latin typeface="Helvetica" panose="020B0604020202020204" pitchFamily="34" charset="0"/>
                <a:cs typeface="Helvetica" panose="020B0604020202020204" pitchFamily="34" charset="0"/>
              </a:rPr>
              <a:t>Scan the QR code to sign up </a:t>
            </a:r>
          </a:p>
          <a:p>
            <a:pPr algn="ctr"/>
            <a:r>
              <a:rPr lang="en-CA" sz="1800" dirty="0">
                <a:latin typeface="Helvetica" panose="020B0604020202020204" pitchFamily="34" charset="0"/>
                <a:cs typeface="Helvetica" panose="020B0604020202020204" pitchFamily="34" charset="0"/>
              </a:rPr>
              <a:t>for our </a:t>
            </a:r>
            <a:r>
              <a:rPr lang="en-CA" sz="1800" b="1" dirty="0">
                <a:latin typeface="Helvetica" panose="020B0604020202020204" pitchFamily="34" charset="0"/>
                <a:cs typeface="Helvetica" panose="020B0604020202020204" pitchFamily="34" charset="0"/>
              </a:rPr>
              <a:t>mailing list</a:t>
            </a:r>
            <a:endParaRPr lang="en-CA" sz="1800" dirty="0">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8E0D0C58-4777-B836-81EE-F027A53CFFAF}"/>
              </a:ext>
            </a:extLst>
          </p:cNvPr>
          <p:cNvSpPr txBox="1"/>
          <p:nvPr/>
        </p:nvSpPr>
        <p:spPr>
          <a:xfrm>
            <a:off x="60708" y="6210464"/>
            <a:ext cx="4596848" cy="369332"/>
          </a:xfrm>
          <a:prstGeom prst="rect">
            <a:avLst/>
          </a:prstGeom>
          <a:noFill/>
        </p:spPr>
        <p:txBody>
          <a:bodyPr wrap="square">
            <a:spAutoFit/>
          </a:bodyPr>
          <a:lstStyle/>
          <a:p>
            <a:pPr marL="0" indent="0">
              <a:buNone/>
            </a:pPr>
            <a:r>
              <a:rPr lang="en-CA" sz="1800" dirty="0">
                <a:latin typeface="Helvetica" panose="020B0604020202020204" pitchFamily="34" charset="0"/>
                <a:cs typeface="Helvetica" panose="020B0604020202020204" pitchFamily="34" charset="0"/>
              </a:rPr>
              <a:t>Contact: </a:t>
            </a:r>
            <a:r>
              <a:rPr lang="en-CA" sz="1800" dirty="0">
                <a:latin typeface="Helvetica" panose="020B0604020202020204" pitchFamily="34" charset="0"/>
                <a:cs typeface="Helvetica" panose="020B0604020202020204" pitchFamily="34" charset="0"/>
                <a:hlinkClick r:id="rId5"/>
              </a:rPr>
              <a:t>workshop-micm@mcgill.ca</a:t>
            </a:r>
            <a:r>
              <a:rPr lang="en-CA" sz="1800" dirty="0">
                <a:latin typeface="Helvetica" panose="020B0604020202020204" pitchFamily="34" charset="0"/>
                <a:cs typeface="Helvetica" panose="020B0604020202020204" pitchFamily="34" charset="0"/>
              </a:rPr>
              <a:t> </a:t>
            </a:r>
          </a:p>
        </p:txBody>
      </p:sp>
      <p:pic>
        <p:nvPicPr>
          <p:cNvPr id="2" name="Picture 1" descr="A map of a city&#10;&#10;Description automatically generated">
            <a:extLst>
              <a:ext uri="{FF2B5EF4-FFF2-40B4-BE49-F238E27FC236}">
                <a16:creationId xmlns:a16="http://schemas.microsoft.com/office/drawing/2014/main" id="{0D7302FE-4674-2672-DBA9-50C4E86C9AA1}"/>
              </a:ext>
            </a:extLst>
          </p:cNvPr>
          <p:cNvPicPr>
            <a:picLocks noChangeAspect="1"/>
          </p:cNvPicPr>
          <p:nvPr/>
        </p:nvPicPr>
        <p:blipFill>
          <a:blip r:embed="rId6"/>
          <a:stretch>
            <a:fillRect/>
          </a:stretch>
        </p:blipFill>
        <p:spPr>
          <a:xfrm>
            <a:off x="924887" y="2649379"/>
            <a:ext cx="2868491" cy="2356534"/>
          </a:xfrm>
          <a:prstGeom prst="ellipse">
            <a:avLst/>
          </a:prstGeom>
          <a:ln>
            <a:noFill/>
          </a:ln>
          <a:effectLst>
            <a:softEdge rad="112500"/>
          </a:effectLst>
        </p:spPr>
      </p:pic>
    </p:spTree>
    <p:extLst>
      <p:ext uri="{BB962C8B-B14F-4D97-AF65-F5344CB8AC3E}">
        <p14:creationId xmlns:p14="http://schemas.microsoft.com/office/powerpoint/2010/main" val="132426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F2376-9E04-ED70-502E-4CB0F87AB96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6AE1CEB-BA97-61DD-841E-10CAC5F24A90}"/>
              </a:ext>
            </a:extLst>
          </p:cNvPr>
          <p:cNvSpPr txBox="1"/>
          <p:nvPr/>
        </p:nvSpPr>
        <p:spPr>
          <a:xfrm>
            <a:off x="1647890" y="5256547"/>
            <a:ext cx="5848220" cy="369460"/>
          </a:xfrm>
          <a:prstGeom prst="rect">
            <a:avLst/>
          </a:prstGeom>
          <a:noFill/>
        </p:spPr>
        <p:txBody>
          <a:bodyPr wrap="square">
            <a:spAutoFit/>
          </a:bodyPr>
          <a:lstStyle/>
          <a:p>
            <a:pPr algn="ctr"/>
            <a:r>
              <a:rPr lang="en-US" dirty="0">
                <a:latin typeface="Helvetica" pitchFamily="2" charset="0"/>
                <a:hlinkClick r:id="rId3"/>
              </a:rPr>
              <a:t>https://www.mcgill.ca/micm/training/workshops-series</a:t>
            </a:r>
            <a:endParaRPr lang="en-US" dirty="0">
              <a:latin typeface="Helvetica" pitchFamily="2" charset="0"/>
            </a:endParaRPr>
          </a:p>
        </p:txBody>
      </p:sp>
      <p:sp>
        <p:nvSpPr>
          <p:cNvPr id="4" name="TextBox 3">
            <a:extLst>
              <a:ext uri="{FF2B5EF4-FFF2-40B4-BE49-F238E27FC236}">
                <a16:creationId xmlns:a16="http://schemas.microsoft.com/office/drawing/2014/main" id="{FCD96498-6607-422D-4649-CD2575F6D567}"/>
              </a:ext>
            </a:extLst>
          </p:cNvPr>
          <p:cNvSpPr txBox="1"/>
          <p:nvPr/>
        </p:nvSpPr>
        <p:spPr>
          <a:xfrm>
            <a:off x="2597550" y="1295601"/>
            <a:ext cx="42086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Helvetica" panose="020B0604020202020204" pitchFamily="34" charset="0"/>
                <a:cs typeface="Helvetica" panose="020B0604020202020204" pitchFamily="34" charset="0"/>
              </a:rPr>
              <a:t>Workshop Series</a:t>
            </a:r>
            <a:endParaRPr lang="en-US" sz="4000" dirty="0">
              <a:latin typeface="Helvetica" panose="020B0604020202020204" pitchFamily="34" charset="0"/>
              <a:cs typeface="Helvetica" panose="020B0604020202020204" pitchFamily="34" charset="0"/>
            </a:endParaRPr>
          </a:p>
        </p:txBody>
      </p:sp>
      <p:pic>
        <p:nvPicPr>
          <p:cNvPr id="3" name="Picture 2">
            <a:extLst>
              <a:ext uri="{FF2B5EF4-FFF2-40B4-BE49-F238E27FC236}">
                <a16:creationId xmlns:a16="http://schemas.microsoft.com/office/drawing/2014/main" id="{B7DF5B93-5AD7-48E9-BD8D-CD406B453297}"/>
              </a:ext>
            </a:extLst>
          </p:cNvPr>
          <p:cNvPicPr>
            <a:picLocks noChangeAspect="1"/>
          </p:cNvPicPr>
          <p:nvPr/>
        </p:nvPicPr>
        <p:blipFill>
          <a:blip r:embed="rId4"/>
          <a:srcRect b="24034"/>
          <a:stretch>
            <a:fillRect/>
          </a:stretch>
        </p:blipFill>
        <p:spPr>
          <a:xfrm>
            <a:off x="685800" y="2094448"/>
            <a:ext cx="7772400" cy="3009583"/>
          </a:xfrm>
          <a:prstGeom prst="rect">
            <a:avLst/>
          </a:prstGeom>
        </p:spPr>
      </p:pic>
      <p:sp>
        <p:nvSpPr>
          <p:cNvPr id="6" name="TextBox 5">
            <a:extLst>
              <a:ext uri="{FF2B5EF4-FFF2-40B4-BE49-F238E27FC236}">
                <a16:creationId xmlns:a16="http://schemas.microsoft.com/office/drawing/2014/main" id="{082F5C12-37BB-8296-44E4-3A894081D3AD}"/>
              </a:ext>
            </a:extLst>
          </p:cNvPr>
          <p:cNvSpPr txBox="1"/>
          <p:nvPr/>
        </p:nvSpPr>
        <p:spPr>
          <a:xfrm>
            <a:off x="1868520" y="5626007"/>
            <a:ext cx="5406960" cy="369460"/>
          </a:xfrm>
          <a:prstGeom prst="rect">
            <a:avLst/>
          </a:prstGeom>
          <a:noFill/>
        </p:spPr>
        <p:txBody>
          <a:bodyPr wrap="square">
            <a:spAutoFit/>
          </a:bodyPr>
          <a:lstStyle>
            <a:defPPr>
              <a:defRPr lang="fr-FR"/>
            </a:defPPr>
            <a:lvl1pPr>
              <a:defRPr>
                <a:latin typeface="Helvetica" pitchFamily="2" charset="0"/>
              </a:defRPr>
            </a:lvl1pPr>
          </a:lstStyle>
          <a:p>
            <a:pPr algn="ctr"/>
            <a:r>
              <a:rPr lang="en-CA" dirty="0">
                <a:hlinkClick r:id="rId5"/>
              </a:rPr>
              <a:t>https://involvement.mcgill.ca/organization/micm</a:t>
            </a:r>
            <a:endParaRPr lang="en-CA" dirty="0"/>
          </a:p>
        </p:txBody>
      </p:sp>
    </p:spTree>
    <p:extLst>
      <p:ext uri="{BB962C8B-B14F-4D97-AF65-F5344CB8AC3E}">
        <p14:creationId xmlns:p14="http://schemas.microsoft.com/office/powerpoint/2010/main" val="330195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B6CB6-3AC9-DA48-BC60-CD6CCF2207F0}"/>
              </a:ext>
            </a:extLst>
          </p:cNvPr>
          <p:cNvSpPr>
            <a:spLocks noGrp="1"/>
          </p:cNvSpPr>
          <p:nvPr>
            <p:ph type="title"/>
          </p:nvPr>
        </p:nvSpPr>
        <p:spPr>
          <a:xfrm>
            <a:off x="628650" y="149223"/>
            <a:ext cx="7886700" cy="1325565"/>
          </a:xfrm>
        </p:spPr>
        <p:txBody>
          <a:bodyPr/>
          <a:lstStyle/>
          <a:p>
            <a:r>
              <a:rPr lang="en-CA" dirty="0">
                <a:latin typeface="Arial" panose="020B0604020202020204" pitchFamily="34" charset="0"/>
                <a:cs typeface="Arial" panose="020B0604020202020204" pitchFamily="34" charset="0"/>
              </a:rPr>
              <a:t>Learning Outcomes</a:t>
            </a:r>
          </a:p>
        </p:txBody>
      </p:sp>
      <p:sp>
        <p:nvSpPr>
          <p:cNvPr id="3" name="Content Placeholder 2">
            <a:extLst>
              <a:ext uri="{FF2B5EF4-FFF2-40B4-BE49-F238E27FC236}">
                <a16:creationId xmlns:a16="http://schemas.microsoft.com/office/drawing/2014/main" id="{D0E6AA13-8806-1A11-9DDC-664EEF2FB52B}"/>
              </a:ext>
            </a:extLst>
          </p:cNvPr>
          <p:cNvSpPr>
            <a:spLocks noGrp="1"/>
          </p:cNvSpPr>
          <p:nvPr>
            <p:ph idx="1"/>
          </p:nvPr>
        </p:nvSpPr>
        <p:spPr>
          <a:xfrm>
            <a:off x="628650" y="1168400"/>
            <a:ext cx="8337550" cy="5054600"/>
          </a:xfrm>
        </p:spPr>
        <p:txBody>
          <a:bodyPr>
            <a:normAutofit/>
          </a:bodyPr>
          <a:lstStyle/>
          <a:p>
            <a:pPr marL="0" indent="0">
              <a:lnSpc>
                <a:spcPct val="100000"/>
              </a:lnSpc>
              <a:spcBef>
                <a:spcPts val="0"/>
              </a:spcBef>
              <a:spcAft>
                <a:spcPts val="600"/>
              </a:spcAft>
              <a:buNone/>
            </a:pPr>
            <a:r>
              <a:rPr lang="en-CA" sz="1800" b="1" dirty="0">
                <a:effectLst/>
                <a:latin typeface="Arial" panose="020B0604020202020204" pitchFamily="34" charset="0"/>
                <a:ea typeface="Calibri" panose="020F0502020204030204" pitchFamily="34" charset="0"/>
              </a:rPr>
              <a:t>Summary</a:t>
            </a:r>
          </a:p>
          <a:p>
            <a:pPr marL="0" indent="0">
              <a:lnSpc>
                <a:spcPct val="115000"/>
              </a:lnSpc>
              <a:spcBef>
                <a:spcPts val="0"/>
              </a:spcBef>
              <a:spcAft>
                <a:spcPts val="600"/>
              </a:spcAft>
              <a:buNone/>
            </a:pPr>
            <a:r>
              <a:rPr lang="en-CA" sz="1800" dirty="0">
                <a:effectLst/>
                <a:latin typeface="Arial" panose="020B0604020202020204" pitchFamily="34" charset="0"/>
                <a:ea typeface="Arial" panose="020B0604020202020204" pitchFamily="34" charset="0"/>
              </a:rPr>
              <a:t>In this 4-hour workshop, participants will be introduced to the basics of programming in Python. Students will journey from the beginnings of creating variables and performing simple mathematical operations to writing code that can perform fundamental tasks and wrapping this code into functions. Participants will learn how to write the important building blocks that make up complex programs.</a:t>
            </a:r>
          </a:p>
          <a:p>
            <a:pPr marL="0" indent="0">
              <a:lnSpc>
                <a:spcPct val="120000"/>
              </a:lnSpc>
              <a:spcBef>
                <a:spcPts val="0"/>
              </a:spcBef>
              <a:spcAft>
                <a:spcPts val="600"/>
              </a:spcAft>
              <a:buNone/>
            </a:pPr>
            <a:endParaRPr lang="en-CA" sz="1800" b="1" dirty="0">
              <a:effectLst/>
              <a:latin typeface="Arial" panose="020B0604020202020204" pitchFamily="34" charset="0"/>
              <a:ea typeface="Calibri" panose="020F0502020204030204" pitchFamily="34" charset="0"/>
            </a:endParaRPr>
          </a:p>
          <a:p>
            <a:pPr marL="0" indent="0">
              <a:lnSpc>
                <a:spcPct val="120000"/>
              </a:lnSpc>
              <a:spcBef>
                <a:spcPts val="0"/>
              </a:spcBef>
              <a:spcAft>
                <a:spcPts val="600"/>
              </a:spcAft>
              <a:buNone/>
            </a:pPr>
            <a:r>
              <a:rPr lang="en-CA" sz="1800" b="1" dirty="0">
                <a:effectLst/>
                <a:latin typeface="Arial" panose="020B0604020202020204" pitchFamily="34" charset="0"/>
                <a:ea typeface="Calibri" panose="020F0502020204030204" pitchFamily="34" charset="0"/>
              </a:rPr>
              <a:t>Learning Objectives</a:t>
            </a:r>
            <a:endParaRPr lang="en-CA" sz="1800" dirty="0">
              <a:effectLst/>
              <a:latin typeface="Arial" panose="020B0604020202020204" pitchFamily="34" charset="0"/>
              <a:ea typeface="Arial" panose="020B0604020202020204" pitchFamily="34" charset="0"/>
            </a:endParaRPr>
          </a:p>
          <a:p>
            <a:pPr marL="342900" lvl="0" indent="-342900" rtl="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Store data in variables and collections.</a:t>
            </a:r>
          </a:p>
          <a:p>
            <a:pPr marL="342900" lvl="0" indent="-34290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Perform basic operations on these data.</a:t>
            </a:r>
          </a:p>
          <a:p>
            <a:pPr marL="342900" lvl="0" indent="-34290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Use control flow and loops to write powerful code.</a:t>
            </a:r>
          </a:p>
          <a:p>
            <a:pPr marL="342900" lvl="0" indent="-34290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Define functions to create repeatable units of behaviour.</a:t>
            </a:r>
          </a:p>
        </p:txBody>
      </p:sp>
    </p:spTree>
    <p:extLst>
      <p:ext uri="{BB962C8B-B14F-4D97-AF65-F5344CB8AC3E}">
        <p14:creationId xmlns:p14="http://schemas.microsoft.com/office/powerpoint/2010/main" val="244071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6DC0-2C03-0F80-ED33-7CA49320E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28632-4325-8622-E121-1A97ADAF14A2}"/>
              </a:ext>
            </a:extLst>
          </p:cNvPr>
          <p:cNvSpPr>
            <a:spLocks noGrp="1"/>
          </p:cNvSpPr>
          <p:nvPr>
            <p:ph type="title"/>
          </p:nvPr>
        </p:nvSpPr>
        <p:spPr>
          <a:xfrm>
            <a:off x="279138" y="138412"/>
            <a:ext cx="7886700" cy="1325565"/>
          </a:xfrm>
        </p:spPr>
        <p:txBody>
          <a:bodyPr/>
          <a:lstStyle/>
          <a:p>
            <a:r>
              <a:rPr lang="en-US" sz="4400" dirty="0">
                <a:latin typeface="Helvetica"/>
                <a:cs typeface="Helvetica"/>
              </a:rPr>
              <a:t>Outline</a:t>
            </a:r>
            <a:endParaRPr lang="en-US" sz="4400" dirty="0">
              <a:latin typeface="Helvetica" pitchFamily="2" charset="0"/>
              <a:cs typeface="Helvetica"/>
            </a:endParaRPr>
          </a:p>
        </p:txBody>
      </p:sp>
      <p:sp>
        <p:nvSpPr>
          <p:cNvPr id="3" name="Content Placeholder 2">
            <a:extLst>
              <a:ext uri="{FF2B5EF4-FFF2-40B4-BE49-F238E27FC236}">
                <a16:creationId xmlns:a16="http://schemas.microsoft.com/office/drawing/2014/main" id="{DC2D940C-80DA-C60B-F41A-BC4B4A91A8B3}"/>
              </a:ext>
            </a:extLst>
          </p:cNvPr>
          <p:cNvSpPr>
            <a:spLocks noGrp="1"/>
          </p:cNvSpPr>
          <p:nvPr>
            <p:ph idx="1"/>
          </p:nvPr>
        </p:nvSpPr>
        <p:spPr>
          <a:xfrm>
            <a:off x="533479" y="1032926"/>
            <a:ext cx="7378018" cy="5686662"/>
          </a:xfrm>
        </p:spPr>
        <p:txBody>
          <a:bodyPr vert="horz" lIns="91440" tIns="45720" rIns="91440" bIns="45720" rtlCol="0" anchor="t">
            <a:noAutofit/>
          </a:bodyPr>
          <a:lstStyle/>
          <a:p>
            <a:pPr marL="342900" lvl="0" indent="-342900">
              <a:buFont typeface="+mj-lt"/>
              <a:buAutoNum type="arabicPeriod"/>
            </a:pPr>
            <a:r>
              <a:rPr lang="en-US" sz="1400" b="1" dirty="0">
                <a:latin typeface="Arial" panose="020B0604020202020204" pitchFamily="34" charset="0"/>
                <a:cs typeface="Arial" panose="020B0604020202020204" pitchFamily="34" charset="0"/>
              </a:rPr>
              <a:t>Module 1 – Python Basics (1 hour)</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Hello, World!</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Variables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Numbers and Comparisons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Intro to strings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b="1" dirty="0">
                <a:latin typeface="Arial" panose="020B0604020202020204" pitchFamily="34" charset="0"/>
                <a:cs typeface="Arial" panose="020B0604020202020204" pitchFamily="34" charset="0"/>
              </a:rPr>
              <a:t>Exercise</a:t>
            </a:r>
            <a:endParaRPr lang="en-CA" sz="1400" b="1" dirty="0">
              <a:latin typeface="Arial" panose="020B0604020202020204" pitchFamily="34" charset="0"/>
              <a:cs typeface="Arial" panose="020B0604020202020204" pitchFamily="34" charset="0"/>
            </a:endParaRPr>
          </a:p>
          <a:p>
            <a:pPr marL="342900" lvl="0" indent="-342900">
              <a:buFont typeface="+mj-lt"/>
              <a:buAutoNum type="arabicPeriod"/>
            </a:pPr>
            <a:r>
              <a:rPr lang="en-US" sz="1400" b="1" dirty="0">
                <a:latin typeface="Arial" panose="020B0604020202020204" pitchFamily="34" charset="0"/>
                <a:cs typeface="Arial" panose="020B0604020202020204" pitchFamily="34" charset="0"/>
              </a:rPr>
              <a:t>Module 2 – Collections (1 hour)</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Lists and List Methods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Tuples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Dictionaries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b="1" dirty="0">
                <a:latin typeface="Arial" panose="020B0604020202020204" pitchFamily="34" charset="0"/>
                <a:cs typeface="Arial" panose="020B0604020202020204" pitchFamily="34" charset="0"/>
              </a:rPr>
              <a:t>Exercise</a:t>
            </a:r>
            <a:endParaRPr lang="en-CA" sz="1400" b="1" dirty="0">
              <a:latin typeface="Arial" panose="020B0604020202020204" pitchFamily="34" charset="0"/>
              <a:cs typeface="Arial" panose="020B0604020202020204" pitchFamily="34" charset="0"/>
            </a:endParaRPr>
          </a:p>
          <a:p>
            <a:pPr marL="342900" lvl="0" indent="-342900">
              <a:buFont typeface="+mj-lt"/>
              <a:buAutoNum type="arabicPeriod"/>
            </a:pPr>
            <a:r>
              <a:rPr lang="en-US" sz="1400" b="1" dirty="0">
                <a:latin typeface="Arial" panose="020B0604020202020204" pitchFamily="34" charset="0"/>
                <a:cs typeface="Arial" panose="020B0604020202020204" pitchFamily="34" charset="0"/>
              </a:rPr>
              <a:t>Module 3 - Intro to Control Flow and Loops (40 minutes)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Control Flow: the if statement</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Loops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b="1" dirty="0">
                <a:latin typeface="Arial" panose="020B0604020202020204" pitchFamily="34" charset="0"/>
                <a:cs typeface="Arial" panose="020B0604020202020204" pitchFamily="34" charset="0"/>
              </a:rPr>
              <a:t>Exercise</a:t>
            </a:r>
            <a:endParaRPr lang="en-CA" sz="1400" b="1" dirty="0">
              <a:latin typeface="Arial" panose="020B0604020202020204" pitchFamily="34" charset="0"/>
              <a:cs typeface="Arial" panose="020B0604020202020204" pitchFamily="34" charset="0"/>
            </a:endParaRPr>
          </a:p>
          <a:p>
            <a:pPr marL="342900" lvl="0" indent="-342900">
              <a:buFont typeface="+mj-lt"/>
              <a:buAutoNum type="arabicPeriod"/>
            </a:pPr>
            <a:r>
              <a:rPr lang="en-US" sz="1400" b="1" dirty="0">
                <a:latin typeface="Arial" panose="020B0604020202020204" pitchFamily="34" charset="0"/>
                <a:cs typeface="Arial" panose="020B0604020202020204" pitchFamily="34" charset="0"/>
              </a:rPr>
              <a:t>Module 4 – Introduction to Functions (30 minutes)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Function Overview</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Writing Custom Functions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dirty="0">
                <a:latin typeface="Arial" panose="020B0604020202020204" pitchFamily="34" charset="0"/>
                <a:cs typeface="Arial" panose="020B0604020202020204" pitchFamily="34" charset="0"/>
              </a:rPr>
              <a:t>Documenting Functions</a:t>
            </a:r>
            <a:endParaRPr lang="en-CA" sz="1400" dirty="0">
              <a:latin typeface="Arial" panose="020B0604020202020204" pitchFamily="34" charset="0"/>
              <a:cs typeface="Arial" panose="020B0604020202020204" pitchFamily="34" charset="0"/>
            </a:endParaRPr>
          </a:p>
          <a:p>
            <a:pPr marL="799988" lvl="1" indent="-342900">
              <a:buFont typeface="+mj-lt"/>
              <a:buAutoNum type="alphaLcPeriod"/>
            </a:pPr>
            <a:r>
              <a:rPr lang="en-US" sz="1400" b="1" dirty="0">
                <a:latin typeface="Arial" panose="020B0604020202020204" pitchFamily="34" charset="0"/>
                <a:cs typeface="Arial" panose="020B0604020202020204" pitchFamily="34" charset="0"/>
              </a:rPr>
              <a:t>Exercise</a:t>
            </a:r>
            <a:endParaRPr lang="en-CA" sz="1400" dirty="0">
              <a:latin typeface="Arial" panose="020B0604020202020204" pitchFamily="34" charset="0"/>
              <a:cs typeface="Arial" panose="020B0604020202020204" pitchFamily="34" charset="0"/>
            </a:endParaRPr>
          </a:p>
          <a:p>
            <a:pPr marL="342900" lvl="0" indent="-342900">
              <a:buFont typeface="+mj-lt"/>
              <a:buAutoNum type="arabicPeriod"/>
            </a:pPr>
            <a:r>
              <a:rPr lang="en-US" sz="1400" b="1" dirty="0">
                <a:latin typeface="Arial" panose="020B0604020202020204" pitchFamily="34" charset="0"/>
                <a:cs typeface="Arial" panose="020B0604020202020204" pitchFamily="34" charset="0"/>
              </a:rPr>
              <a:t>Module 5 – Where to go from here (10 minutes)</a:t>
            </a:r>
            <a:endParaRPr lang="en-CA"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630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437A51-AA1C-34AB-814D-83DB9CE6EA16}"/>
              </a:ext>
            </a:extLst>
          </p:cNvPr>
          <p:cNvSpPr>
            <a:spLocks noGrp="1"/>
          </p:cNvSpPr>
          <p:nvPr>
            <p:ph type="title"/>
          </p:nvPr>
        </p:nvSpPr>
        <p:spPr/>
        <p:txBody>
          <a:bodyPr/>
          <a:lstStyle/>
          <a:p>
            <a:r>
              <a:rPr lang="en-US" dirty="0"/>
              <a:t>Interactive Workshop!</a:t>
            </a:r>
          </a:p>
        </p:txBody>
      </p:sp>
      <p:sp>
        <p:nvSpPr>
          <p:cNvPr id="2" name="Text Placeholder 1">
            <a:extLst>
              <a:ext uri="{FF2B5EF4-FFF2-40B4-BE49-F238E27FC236}">
                <a16:creationId xmlns:a16="http://schemas.microsoft.com/office/drawing/2014/main" id="{D2AC8912-7855-2237-3FC0-52D3822CCBEC}"/>
              </a:ext>
            </a:extLst>
          </p:cNvPr>
          <p:cNvSpPr>
            <a:spLocks noGrp="1"/>
          </p:cNvSpPr>
          <p:nvPr>
            <p:ph idx="1"/>
          </p:nvPr>
        </p:nvSpPr>
        <p:spPr/>
        <p:txBody>
          <a:bodyPr>
            <a:normAutofit/>
          </a:bodyPr>
          <a:lstStyle/>
          <a:p>
            <a:r>
              <a:rPr lang="en-US" dirty="0"/>
              <a:t>That’s pretty much all that will be in the slides… For the rest, we’ll go to a </a:t>
            </a:r>
            <a:r>
              <a:rPr lang="en-US" dirty="0" err="1"/>
              <a:t>Jupyter</a:t>
            </a:r>
            <a:r>
              <a:rPr lang="en-US" dirty="0"/>
              <a:t> Notebook:</a:t>
            </a:r>
          </a:p>
        </p:txBody>
      </p:sp>
      <p:sp>
        <p:nvSpPr>
          <p:cNvPr id="5" name="Rectangle 4">
            <a:hlinkClick r:id="rId3"/>
            <a:extLst>
              <a:ext uri="{FF2B5EF4-FFF2-40B4-BE49-F238E27FC236}">
                <a16:creationId xmlns:a16="http://schemas.microsoft.com/office/drawing/2014/main" id="{95D1A3EF-3796-F00E-99F9-355720A79B88}"/>
              </a:ext>
            </a:extLst>
          </p:cNvPr>
          <p:cNvSpPr/>
          <p:nvPr/>
        </p:nvSpPr>
        <p:spPr>
          <a:xfrm>
            <a:off x="2293142" y="4806395"/>
            <a:ext cx="4557713" cy="1042988"/>
          </a:xfrm>
          <a:prstGeom prst="rect">
            <a:avLst/>
          </a:prstGeom>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a:solidFill>
                    <a:schemeClr val="accent1">
                      <a:lumMod val="60000"/>
                      <a:lumOff val="40000"/>
                    </a:schemeClr>
                  </a:solidFill>
                </a:ln>
                <a:solidFill>
                  <a:sysClr val="windowText" lastClr="000000"/>
                </a:solidFill>
              </a:rPr>
              <a:t>To the repository!</a:t>
            </a:r>
          </a:p>
        </p:txBody>
      </p:sp>
      <p:pic>
        <p:nvPicPr>
          <p:cNvPr id="7" name="Picture 6">
            <a:extLst>
              <a:ext uri="{FF2B5EF4-FFF2-40B4-BE49-F238E27FC236}">
                <a16:creationId xmlns:a16="http://schemas.microsoft.com/office/drawing/2014/main" id="{23904CDC-D6A8-F034-F4B4-BB208BDC3CB2}"/>
              </a:ext>
            </a:extLst>
          </p:cNvPr>
          <p:cNvPicPr>
            <a:picLocks noChangeAspect="1"/>
          </p:cNvPicPr>
          <p:nvPr/>
        </p:nvPicPr>
        <p:blipFill>
          <a:blip r:embed="rId4"/>
          <a:stretch>
            <a:fillRect/>
          </a:stretch>
        </p:blipFill>
        <p:spPr>
          <a:xfrm>
            <a:off x="3759196" y="3058610"/>
            <a:ext cx="1625604" cy="1625604"/>
          </a:xfrm>
          <a:prstGeom prst="rect">
            <a:avLst/>
          </a:prstGeom>
        </p:spPr>
      </p:pic>
    </p:spTree>
    <p:extLst>
      <p:ext uri="{BB962C8B-B14F-4D97-AF65-F5344CB8AC3E}">
        <p14:creationId xmlns:p14="http://schemas.microsoft.com/office/powerpoint/2010/main" val="789869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1D98-6BBE-A159-A3C0-2E36C1EE1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48A3B-163E-4BC2-33B5-8E52B1D07930}"/>
              </a:ext>
            </a:extLst>
          </p:cNvPr>
          <p:cNvSpPr>
            <a:spLocks noGrp="1"/>
          </p:cNvSpPr>
          <p:nvPr>
            <p:ph type="title"/>
          </p:nvPr>
        </p:nvSpPr>
        <p:spPr>
          <a:xfrm>
            <a:off x="421263" y="91181"/>
            <a:ext cx="7886700" cy="1325565"/>
          </a:xfrm>
        </p:spPr>
        <p:txBody>
          <a:bodyPr/>
          <a:lstStyle/>
          <a:p>
            <a:r>
              <a:rPr lang="en-US" sz="4400" dirty="0">
                <a:latin typeface="Helvetica"/>
                <a:cs typeface="Helvetica"/>
              </a:rPr>
              <a:t>To summarize</a:t>
            </a:r>
            <a:endParaRPr lang="en-US" sz="4400" dirty="0">
              <a:latin typeface="Helvetica" pitchFamily="2" charset="0"/>
              <a:cs typeface="Helvetica"/>
            </a:endParaRPr>
          </a:p>
        </p:txBody>
      </p:sp>
      <p:sp>
        <p:nvSpPr>
          <p:cNvPr id="3" name="Content Placeholder 2">
            <a:extLst>
              <a:ext uri="{FF2B5EF4-FFF2-40B4-BE49-F238E27FC236}">
                <a16:creationId xmlns:a16="http://schemas.microsoft.com/office/drawing/2014/main" id="{91FB88F1-CC08-E82A-389D-4944ADCE6F22}"/>
              </a:ext>
            </a:extLst>
          </p:cNvPr>
          <p:cNvSpPr>
            <a:spLocks noGrp="1"/>
          </p:cNvSpPr>
          <p:nvPr>
            <p:ph idx="1"/>
          </p:nvPr>
        </p:nvSpPr>
        <p:spPr>
          <a:xfrm>
            <a:off x="883699" y="1457222"/>
            <a:ext cx="7378018" cy="4727678"/>
          </a:xfrm>
        </p:spPr>
        <p:txBody>
          <a:bodyPr vert="horz" lIns="91440" tIns="45720" rIns="91440" bIns="45720" rtlCol="0" anchor="t">
            <a:normAutofit fontScale="92500" lnSpcReduction="20000"/>
          </a:bodyPr>
          <a:lstStyle/>
          <a:p>
            <a:pPr marL="227965" indent="-227965">
              <a:lnSpc>
                <a:spcPct val="150000"/>
              </a:lnSpc>
              <a:spcBef>
                <a:spcPts val="0"/>
              </a:spcBef>
              <a:buFont typeface="Wingdings" pitchFamily="2" charset="2"/>
              <a:buChar char="ü"/>
            </a:pPr>
            <a:r>
              <a:rPr lang="en-CA" sz="1800" dirty="0">
                <a:latin typeface="Helvetica"/>
                <a:ea typeface="Calibri"/>
                <a:cs typeface="Helvetica"/>
              </a:rPr>
              <a:t>Data can be stored in </a:t>
            </a:r>
            <a:r>
              <a:rPr lang="en-CA" sz="1800" b="1" dirty="0">
                <a:latin typeface="Helvetica"/>
                <a:ea typeface="Calibri"/>
                <a:cs typeface="Helvetica"/>
              </a:rPr>
              <a:t>variables</a:t>
            </a:r>
            <a:r>
              <a:rPr lang="en-CA" sz="1800" dirty="0">
                <a:latin typeface="Helvetica"/>
                <a:ea typeface="Calibri"/>
                <a:cs typeface="Helvetica"/>
              </a:rPr>
              <a:t> of several types, including </a:t>
            </a:r>
            <a:r>
              <a:rPr lang="en-CA" sz="1800" b="1" dirty="0">
                <a:latin typeface="Helvetica"/>
                <a:ea typeface="Calibri"/>
                <a:cs typeface="Helvetica"/>
              </a:rPr>
              <a:t>strings</a:t>
            </a:r>
            <a:r>
              <a:rPr lang="en-CA" sz="1800" dirty="0">
                <a:latin typeface="Helvetica"/>
                <a:ea typeface="Calibri"/>
                <a:cs typeface="Helvetica"/>
              </a:rPr>
              <a:t>, </a:t>
            </a:r>
            <a:r>
              <a:rPr lang="en-CA" sz="1800" b="1" dirty="0">
                <a:latin typeface="Helvetica"/>
                <a:ea typeface="Calibri"/>
                <a:cs typeface="Helvetica"/>
              </a:rPr>
              <a:t>integers</a:t>
            </a:r>
            <a:r>
              <a:rPr lang="en-CA" sz="1800" dirty="0">
                <a:latin typeface="Helvetica"/>
                <a:ea typeface="Calibri"/>
                <a:cs typeface="Helvetica"/>
              </a:rPr>
              <a:t>, </a:t>
            </a:r>
            <a:r>
              <a:rPr lang="en-CA" sz="1800" b="1" dirty="0">
                <a:latin typeface="Helvetica"/>
                <a:ea typeface="Calibri"/>
                <a:cs typeface="Helvetica"/>
              </a:rPr>
              <a:t>floating point numbers </a:t>
            </a:r>
            <a:r>
              <a:rPr lang="en-CA" sz="1800" dirty="0">
                <a:latin typeface="Helvetica"/>
                <a:ea typeface="Calibri"/>
                <a:cs typeface="Helvetica"/>
              </a:rPr>
              <a:t>and </a:t>
            </a:r>
            <a:r>
              <a:rPr lang="en-CA" sz="1800" b="1" dirty="0">
                <a:latin typeface="Helvetica"/>
                <a:ea typeface="Calibri"/>
                <a:cs typeface="Helvetica"/>
              </a:rPr>
              <a:t>Booleans.</a:t>
            </a:r>
          </a:p>
          <a:p>
            <a:pPr marL="227965" indent="-227965">
              <a:lnSpc>
                <a:spcPct val="150000"/>
              </a:lnSpc>
              <a:spcBef>
                <a:spcPts val="0"/>
              </a:spcBef>
              <a:buFont typeface="Wingdings" pitchFamily="2" charset="2"/>
              <a:buChar char="ü"/>
            </a:pPr>
            <a:r>
              <a:rPr lang="en-CA" sz="1800" b="1" dirty="0">
                <a:latin typeface="Helvetica"/>
                <a:ea typeface="Calibri"/>
                <a:cs typeface="Helvetica"/>
              </a:rPr>
              <a:t>Collection types</a:t>
            </a:r>
            <a:r>
              <a:rPr lang="en-CA" sz="1800" dirty="0">
                <a:latin typeface="Helvetica"/>
                <a:ea typeface="Calibri"/>
                <a:cs typeface="Helvetica"/>
              </a:rPr>
              <a:t>, such as </a:t>
            </a:r>
            <a:r>
              <a:rPr lang="en-CA" sz="1800" b="1" dirty="0">
                <a:latin typeface="Helvetica"/>
                <a:ea typeface="Calibri"/>
                <a:cs typeface="Helvetica"/>
              </a:rPr>
              <a:t>tuples</a:t>
            </a:r>
            <a:r>
              <a:rPr lang="en-CA" sz="1800" dirty="0">
                <a:latin typeface="Helvetica"/>
                <a:ea typeface="Calibri"/>
                <a:cs typeface="Helvetica"/>
              </a:rPr>
              <a:t>, </a:t>
            </a:r>
            <a:r>
              <a:rPr lang="en-CA" sz="1800" b="1" dirty="0">
                <a:latin typeface="Helvetica"/>
                <a:ea typeface="Calibri"/>
                <a:cs typeface="Helvetica"/>
              </a:rPr>
              <a:t>lists</a:t>
            </a:r>
            <a:r>
              <a:rPr lang="en-CA" sz="1800" dirty="0">
                <a:latin typeface="Helvetica"/>
                <a:ea typeface="Calibri"/>
                <a:cs typeface="Helvetica"/>
              </a:rPr>
              <a:t> and </a:t>
            </a:r>
            <a:r>
              <a:rPr lang="en-CA" sz="1800" b="1" dirty="0">
                <a:latin typeface="Helvetica"/>
                <a:ea typeface="Calibri"/>
                <a:cs typeface="Helvetica"/>
              </a:rPr>
              <a:t>dictionaries</a:t>
            </a:r>
            <a:r>
              <a:rPr lang="en-CA" sz="1800" dirty="0">
                <a:latin typeface="Helvetica"/>
                <a:ea typeface="Calibri"/>
                <a:cs typeface="Helvetica"/>
              </a:rPr>
              <a:t> can be used to store </a:t>
            </a:r>
            <a:r>
              <a:rPr lang="en-CA" sz="1800" b="1" dirty="0">
                <a:latin typeface="Helvetica"/>
                <a:ea typeface="Calibri"/>
                <a:cs typeface="Helvetica"/>
              </a:rPr>
              <a:t>multiple</a:t>
            </a:r>
            <a:r>
              <a:rPr lang="en-CA" sz="1800" dirty="0">
                <a:latin typeface="Helvetica"/>
                <a:ea typeface="Calibri"/>
                <a:cs typeface="Helvetica"/>
              </a:rPr>
              <a:t> data points.</a:t>
            </a:r>
            <a:endParaRPr lang="en-CA" sz="1800" b="1" dirty="0">
              <a:latin typeface="Helvetica"/>
              <a:ea typeface="Calibri"/>
              <a:cs typeface="Helvetica"/>
            </a:endParaRPr>
          </a:p>
          <a:p>
            <a:pPr marL="227965" indent="-227965">
              <a:lnSpc>
                <a:spcPct val="150000"/>
              </a:lnSpc>
              <a:spcBef>
                <a:spcPts val="0"/>
              </a:spcBef>
              <a:buFont typeface="Wingdings" pitchFamily="2" charset="2"/>
              <a:buChar char="ü"/>
            </a:pPr>
            <a:r>
              <a:rPr lang="en-CA" sz="1800" b="1" dirty="0">
                <a:latin typeface="Helvetica"/>
                <a:ea typeface="Calibri"/>
                <a:cs typeface="Helvetica"/>
              </a:rPr>
              <a:t>Control flow</a:t>
            </a:r>
            <a:r>
              <a:rPr lang="en-CA" sz="1800" dirty="0">
                <a:latin typeface="Helvetica"/>
                <a:ea typeface="Calibri"/>
                <a:cs typeface="Helvetica"/>
              </a:rPr>
              <a:t> and </a:t>
            </a:r>
            <a:r>
              <a:rPr lang="en-CA" sz="1800" b="1" dirty="0">
                <a:latin typeface="Helvetica"/>
                <a:ea typeface="Calibri"/>
                <a:cs typeface="Helvetica"/>
              </a:rPr>
              <a:t>loops</a:t>
            </a:r>
            <a:r>
              <a:rPr lang="en-CA" sz="1800" dirty="0">
                <a:latin typeface="Helvetica"/>
                <a:ea typeface="Calibri"/>
                <a:cs typeface="Helvetica"/>
              </a:rPr>
              <a:t> help decide which lines to run and allow lines to be repeated.</a:t>
            </a:r>
          </a:p>
          <a:p>
            <a:pPr marL="227965" indent="-227965">
              <a:lnSpc>
                <a:spcPct val="150000"/>
              </a:lnSpc>
              <a:spcBef>
                <a:spcPts val="0"/>
              </a:spcBef>
              <a:buFont typeface="Wingdings" pitchFamily="2" charset="2"/>
              <a:buChar char="ü"/>
            </a:pPr>
            <a:r>
              <a:rPr lang="en-CA" sz="1800" b="1" dirty="0">
                <a:latin typeface="Helvetica"/>
                <a:ea typeface="Calibri"/>
                <a:cs typeface="Helvetica"/>
              </a:rPr>
              <a:t>Functions</a:t>
            </a:r>
            <a:r>
              <a:rPr lang="en-CA" sz="1800" dirty="0">
                <a:latin typeface="Helvetica"/>
                <a:ea typeface="Calibri"/>
                <a:cs typeface="Helvetica"/>
              </a:rPr>
              <a:t> help package up behaviour into units that you can easily reuse.</a:t>
            </a:r>
            <a:endParaRPr lang="en-CA" sz="1800" b="1" dirty="0">
              <a:latin typeface="Helvetica"/>
              <a:ea typeface="Calibri"/>
              <a:cs typeface="Helvetica"/>
            </a:endParaRPr>
          </a:p>
          <a:p>
            <a:pPr marL="0" lvl="0" indent="0">
              <a:lnSpc>
                <a:spcPct val="109000"/>
              </a:lnSpc>
              <a:spcAft>
                <a:spcPts val="1000"/>
              </a:spcAft>
              <a:buNone/>
            </a:pPr>
            <a:r>
              <a:rPr lang="en-CA" sz="1800" b="1" dirty="0">
                <a:latin typeface="Helvetica" pitchFamily="2" charset="0"/>
                <a:ea typeface="Arial" panose="020B0604020202020204" pitchFamily="34" charset="0"/>
              </a:rPr>
              <a:t>Now you are ready to:</a:t>
            </a:r>
          </a:p>
          <a:p>
            <a:pPr marL="227965" indent="-227965">
              <a:lnSpc>
                <a:spcPct val="150000"/>
              </a:lnSpc>
              <a:spcBef>
                <a:spcPts val="0"/>
              </a:spcBef>
            </a:pPr>
            <a:r>
              <a:rPr lang="en-CA" sz="1800" dirty="0">
                <a:latin typeface="Helvetica"/>
                <a:ea typeface="Arial" panose="020B0604020202020204" pitchFamily="34" charset="0"/>
                <a:cs typeface="Helvetica"/>
              </a:rPr>
              <a:t>Store data in variables and collections.</a:t>
            </a:r>
          </a:p>
          <a:p>
            <a:pPr marL="227965" indent="-227965">
              <a:lnSpc>
                <a:spcPct val="150000"/>
              </a:lnSpc>
              <a:spcBef>
                <a:spcPts val="0"/>
              </a:spcBef>
            </a:pPr>
            <a:r>
              <a:rPr lang="en-CA" sz="1800" dirty="0">
                <a:latin typeface="Helvetica"/>
                <a:ea typeface="Arial" panose="020B0604020202020204" pitchFamily="34" charset="0"/>
                <a:cs typeface="Helvetica"/>
              </a:rPr>
              <a:t>Perform basic operations on these data.</a:t>
            </a:r>
          </a:p>
          <a:p>
            <a:pPr marL="227965" indent="-227965">
              <a:lnSpc>
                <a:spcPct val="150000"/>
              </a:lnSpc>
              <a:spcBef>
                <a:spcPts val="0"/>
              </a:spcBef>
            </a:pPr>
            <a:r>
              <a:rPr lang="en-CA" sz="1800" dirty="0">
                <a:latin typeface="Helvetica"/>
                <a:ea typeface="Arial" panose="020B0604020202020204" pitchFamily="34" charset="0"/>
                <a:cs typeface="Helvetica"/>
              </a:rPr>
              <a:t>Use control flow and loops to write powerful code.</a:t>
            </a:r>
          </a:p>
          <a:p>
            <a:pPr marL="227965" indent="-227965">
              <a:lnSpc>
                <a:spcPct val="150000"/>
              </a:lnSpc>
              <a:spcBef>
                <a:spcPts val="0"/>
              </a:spcBef>
            </a:pPr>
            <a:r>
              <a:rPr lang="en-CA" sz="1800" dirty="0">
                <a:latin typeface="Helvetica"/>
                <a:ea typeface="Arial" panose="020B0604020202020204" pitchFamily="34" charset="0"/>
                <a:cs typeface="Helvetica"/>
              </a:rPr>
              <a:t>Write functions to repeat complicated tasks.</a:t>
            </a:r>
          </a:p>
        </p:txBody>
      </p:sp>
    </p:spTree>
    <p:extLst>
      <p:ext uri="{BB962C8B-B14F-4D97-AF65-F5344CB8AC3E}">
        <p14:creationId xmlns:p14="http://schemas.microsoft.com/office/powerpoint/2010/main" val="130104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69FE57-67C3-163A-FA8B-E58ABAE83AD5}"/>
              </a:ext>
            </a:extLst>
          </p:cNvPr>
          <p:cNvSpPr>
            <a:spLocks noGrp="1"/>
          </p:cNvSpPr>
          <p:nvPr>
            <p:ph type="title"/>
          </p:nvPr>
        </p:nvSpPr>
        <p:spPr/>
        <p:txBody>
          <a:bodyPr/>
          <a:lstStyle/>
          <a:p>
            <a:r>
              <a:rPr lang="en-US" dirty="0"/>
              <a:t>Acknowledgements</a:t>
            </a:r>
          </a:p>
        </p:txBody>
      </p:sp>
      <p:sp>
        <p:nvSpPr>
          <p:cNvPr id="6" name="Content Placeholder 5">
            <a:extLst>
              <a:ext uri="{FF2B5EF4-FFF2-40B4-BE49-F238E27FC236}">
                <a16:creationId xmlns:a16="http://schemas.microsoft.com/office/drawing/2014/main" id="{DE7F1D66-B561-5418-8DB0-1AB9CF7B497E}"/>
              </a:ext>
            </a:extLst>
          </p:cNvPr>
          <p:cNvSpPr>
            <a:spLocks noGrp="1"/>
          </p:cNvSpPr>
          <p:nvPr>
            <p:ph idx="1"/>
          </p:nvPr>
        </p:nvSpPr>
        <p:spPr>
          <a:xfrm>
            <a:off x="628650" y="1690688"/>
            <a:ext cx="7886700" cy="4621212"/>
          </a:xfrm>
        </p:spPr>
        <p:txBody>
          <a:bodyPr>
            <a:normAutofit/>
          </a:bodyPr>
          <a:lstStyle/>
          <a:p>
            <a:r>
              <a:rPr lang="en-US" sz="2400" dirty="0"/>
              <a:t>Thank you to QLS-MiCM for giving me this opportunity and for helping me along the way.</a:t>
            </a:r>
          </a:p>
          <a:p>
            <a:r>
              <a:rPr lang="en-US" sz="2400" dirty="0"/>
              <a:t>Thank you to Najia </a:t>
            </a:r>
            <a:r>
              <a:rPr lang="en-US" sz="2400" dirty="0" err="1"/>
              <a:t>Bouaddouch</a:t>
            </a:r>
            <a:r>
              <a:rPr lang="en-US" sz="2400" dirty="0"/>
              <a:t> for her workshop material.</a:t>
            </a:r>
          </a:p>
          <a:p>
            <a:r>
              <a:rPr lang="en-US" sz="2400" dirty="0"/>
              <a:t>Thank you to the professors from the McGill School of Computer Science for helping me along my programming journey and for inspiring me to share my programming experience with others.</a:t>
            </a:r>
          </a:p>
          <a:p>
            <a:r>
              <a:rPr lang="en-US" sz="2400" dirty="0"/>
              <a:t>Thank you to Professor Mathieu Blanchette, whose COMP 204 course helped introduce me to Python (back in Fall 2018).</a:t>
            </a:r>
          </a:p>
          <a:p>
            <a:r>
              <a:rPr lang="en-US" sz="2400" dirty="0"/>
              <a:t>Thank you to the Python community!</a:t>
            </a:r>
          </a:p>
        </p:txBody>
      </p:sp>
    </p:spTree>
    <p:extLst>
      <p:ext uri="{BB962C8B-B14F-4D97-AF65-F5344CB8AC3E}">
        <p14:creationId xmlns:p14="http://schemas.microsoft.com/office/powerpoint/2010/main" val="3427767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ème Office">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3581</TotalTime>
  <Words>517</Words>
  <Application>Microsoft Macintosh PowerPoint</Application>
  <PresentationFormat>On-screen Show (4:3)</PresentationFormat>
  <Paragraphs>68</Paragraphs>
  <Slides>8</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Aptos</vt:lpstr>
      <vt:lpstr>Arial</vt:lpstr>
      <vt:lpstr>Calibri</vt:lpstr>
      <vt:lpstr>Calibri Light</vt:lpstr>
      <vt:lpstr>Helvetica</vt:lpstr>
      <vt:lpstr>Helvetica Light</vt:lpstr>
      <vt:lpstr>Open Sans Light</vt:lpstr>
      <vt:lpstr>Wingdings</vt:lpstr>
      <vt:lpstr>Thème Office</vt:lpstr>
      <vt:lpstr>Intro to Python</vt:lpstr>
      <vt:lpstr>PowerPoint Presentation</vt:lpstr>
      <vt:lpstr>PowerPoint Presentation</vt:lpstr>
      <vt:lpstr>Learning Outcomes</vt:lpstr>
      <vt:lpstr>Outline</vt:lpstr>
      <vt:lpstr>Interactive Workshop!</vt:lpstr>
      <vt:lpstr>To summarize</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Rachade Hmamouchi</dc:creator>
  <cp:lastModifiedBy>Benjamin Rudski</cp:lastModifiedBy>
  <cp:revision>166</cp:revision>
  <dcterms:created xsi:type="dcterms:W3CDTF">2019-07-29T14:54:16Z</dcterms:created>
  <dcterms:modified xsi:type="dcterms:W3CDTF">2025-11-09T20:05:43Z</dcterms:modified>
</cp:coreProperties>
</file>